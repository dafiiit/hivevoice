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22"/>
    <p:sldId id="272" r:id="rId23"/>
    <p:sldId id="259" r:id="rId5"/>
    <p:sldId id="260" r:id="rId6"/>
    <p:sldId id="261" r:id="rId7"/>
    <p:sldId id="262" r:id="rId8"/>
    <p:sldId id="263" r:id="rId9"/>
    <p:sldId id="264" r:id="rId10"/>
    <p:sldId id="265" r:id="rId11"/>
    <p:sldId id="266" r:id="rId12"/>
    <p:sldId id="273" r:id="rId24"/>
    <p:sldId id="267" r:id="rId13"/>
    <p:sldId id="268" r:id="rId14"/>
    <p:sldId id="274" r:id="rId25"/>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bcfe8940-fc45-cd3c-f871-b92746509dc6}">
          <p14:sldIdLst>
            <p14:sldId id="256"/>
            <p14:sldId id="257"/>
          </p14:sldIdLst>
        </p14:section>
        <p14:section name="Idee" id="{5ff6f58c-38b2-f91a-d99f-230911fbbefd}">
          <p14:sldIdLst>
            <p14:sldId id="258"/>
            <p14:sldId id="259"/>
            <p14:sldId id="260"/>
          </p14:sldIdLst>
        </p14:section>
        <p14:section name="Menschen" id="{e12dbdd6-bb28-1fc8-82d9-c5b1c9d4bc46}">
          <p14:sldIdLst>
            <p14:sldId id="261"/>
            <p14:sldId id="262"/>
            <p14:sldId id="263"/>
            <p14:sldId id="264"/>
            <p14:sldId id="265"/>
            <p14:sldId id="266"/>
          </p14:sldIdLst>
        </p14:section>
        <p14:section name="Vergleich" id="{3096b718-409f-c35e-658d-c0b2d04bf3b6}">
          <p14:sldIdLst>
            <p14:sldId id="267"/>
            <p14:sldId id="268"/>
          </p14:sldIdLst>
        </p14:section>
        <p14:section name="Ausblick" id="{61f27485-47b5-2f27-da7f-1b23c13599b9}">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13.xml"/><Relationship Id="rId25"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Stellt euch vor, ihr zieht nach München, braucht ein Zimmer und kennt niemanden. Oder ihr seid 72 und es ist seit Monaten still in der Wohnung. Was fehlt, ist selten guter Wille. Es fehlt ein Ort, an dem sich die richtigen Menschen finden. Das ist hivevoice.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Heute zerfällt Engagement in viele Apps: Gruppen-Chats, Kleinanzeigen, Petitionsseiten, Mail-Verteiler, der Zettel im Treppenhaus. Und die großen Plattformen belohnen, was Empörung auslöst, nicht was hilft. Wer eine Forderung stellt, bekommt selten eine Antwort.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Dafür gibt es vier Bausteine in einer App. Anliegen: bieten und suchen in einem Formular, von Hilfe über Wohnen bis Mitfahrt. Gruppen: mit Zielen, Aufgaben und Abstimmungen. Initiativen: Forderungen mit Antwortfrist. Und Verbinden: Chats und der Marktplatz vor Ort.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Herzstück ist das Matching. Ein Angebot und ein Gesuch finden sich, und beide Seiten sehen, warum: gleiche Schlagworte, gleiche Kategorie, derselbe Ort, ähnliche Bedeutung. Die KI dafür läuft direkt in unserer Datenbank, kein Text geht an einen fremden KI-Dienst.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Wie das im Alltag aussieht, zeige ich an fünf Paaren. Immer zwei Menschen, die sehr verschieden sind und genau deshalb zusammenpassen.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Fatma ist alleinerziehend und arbeitet abends. Erika ist 72 und allein. Fatma sucht Betreuung, Erika sucht Gesellschaft. hivevoice zeigt beiden den Treffer als Tausch in beide Richtungen: Erika passt dienstags auf, sonntags essen sie zusammen, und Fatma richtet ihr das Smartphone ein.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Jonas ist 19 und findet in München kein Zimmer, das er sich leisten kann. Josef ist 81, hat ein Haus mit leeren Zimmern und schafft den Garten nicht mehr. Wohnen gegen Hilfe: Jonas zieht ein und packt mit an. Kein Makler, keine Anzeige, die im Rauschen untergeht.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leitet einen Sportverein und plant den Umbau des Vereinsheims. Ahmed ist Bauingenieur aus Syrien, sein Abschluss wird gerade anerkannt. Ahmed bringt sein Wissen ein, Thomas öffnet ihm Türen zu Betrieben im Ort. Gefunden haben sie sich über das, was sie können, nicht über Follower.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Auch Bürger und Verwaltung ergänzen sich. Lena will einen sicheren Radweg und eine echte Antwort. Sabine im Baureferat bekommt Anliegen über fünf Kanäle. Mit hivevoice kommt die Initiative gebündelt an, mit Argumenten beider Seiten und Abstimmung. Sabine antwortet öffentlich, innerhalb von sechs Wochen.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Clara rettet jeden Abend Lebensmittel, ihr fehlen ein Ort und verlässliche Leute. Das Wohnprojekt der Familie Berger hat einen Gemeinschaftsraum, der oft leer steht. Jetzt steht dort der Kühlschrank, die Nachbarschaft holt ab, und aus einem Problem wird ein Treffpunkt.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Was unterscheidet uns? Soziale Medien leben von Aufmerksamkeit, Chat-Gruppen vom Neuesten, Kleinanzeigen vom Geld. Bei uns steht oben, was beide Seiten überzeugt. Entscheidungen sind geheim und verbindlich, Zuständige müssen antworten, und der Code ist offen.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Dafür stehen wir mit vier Zahlen: null Tracking, eine Person, ein Konto, eine Stimme, sechs Wochen Antwortfrist und hundert Prozent offener Code.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Und wir denken langfristig. Jede Abhängigkeit wird austauschbar, Vereine und Kommunen können selbst betreiben, mit Online-Ausweis anmelden, Instanzen verbinden sich über ActivityPub, Chats werden Ende-zu-Ende verschlüsselt. Damit hivevoice niemandem gehört, sondern allen.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Was wir suchen: Förderung für den Aufbau und für Barrierefreiheit, eine Pilot-Kommune oder einen Bezirk, der mit uns startet, und Vereine und Initiativen als erste Gruppen. Probiert es aus unter hive-voice.vercel.app. Danke.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Zahlen, drei Ebenen. In München kostet eine neu angebotene Wohnung über 23 Euro pro Quadratmeter, fast 9 Euro mehr als im Bundesschnitt. In Deutschland fühlt sich etwa jede neunte Person häufig einsam. Und in der EU landen pro Kopf 130 Kilo Lebensmittel im Abfall. Zimmer, Zeit, Essen: das alles ist da. Es findet nur nicht zueinander.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Unsere Idee ist einfach: Frag an, was dir fehlt. Biete, was du entbehren kannst. hivevoice findet die passenden Menschen in deiner Nähe. Wer dasselbe will, verbindet sich zu einer Gruppe mit Zielen. Und wer etwas verändern will, richtet eine Forderung an die zuständige Stelle und bekommt eine Antwort.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sieht das aus, live und heute schon nutzbar. Links eine Initiative für den Radweg, mit Phasen bis zur Antwort. In der Mitte der Marktplatz mit Angeboten und Gesuchen. Rechts die Gruppen im Viertel.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hivevoice ist kein Geldprojekt, sondern ein Gemeinwohlprojekt. Die Nutzung ist frei. Wer mehr Speicher braucht, bindet seinen eigenen an oder bucht dazu. Und lokale Dienstleister können ihre Angebote hervorheben, klar gekennzeichnet und ohne Tracking. Das soll den Betrieb tragen. Für den Aufbau suchen wir Förderung.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788920"/>
            <a:ext cx="4937760" cy="109728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7315200" cy="822960"/>
          </a:xfrm>
          <a:prstGeom prst="rect">
            <a:avLst/>
          </a:prstGeom>
          <a:noFill/>
          <a:ln/>
        </p:spPr>
        <p:txBody>
          <a:bodyPr wrap="square" rtlCol="0"/>
          <a:lstStyle>
            <a:lvl1pPr algn="l" indent="0" marL="0">
              <a:buNone/>
              <a:defRPr lang="en-US" sz="1800" dirty="0">
                <a:solidFill>
                  <a:schemeClr val="accent3"/>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698500" y="4754880"/>
            <a:ext cx="1828800" cy="274320"/>
          </a:xfrm>
          <a:prstGeom prst="rect">
            <a:avLst/>
          </a:prstGeom>
          <a:noFill/>
          <a:ln/>
        </p:spPr>
        <p:txBody>
          <a:bodyPr wrap="square" lIns="0" tIns="0" rIns="0" bIns="0" rtlCol="0" anchor="ctr"/>
          <a:lstStyle/>
          <a:p>
            <a:pPr indent="0" marL="0">
              <a:buNone/>
            </a:pPr>
            <a:r>
              <a:rPr b="1" sz="1000"/>
              <a:t>hive</a:t>
            </a:r>
            <a:r>
              <a:rPr b="0" sz="1000"/>
              <a:t>voice</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1004</a:t>
            </a:fld>
            <a:endParaRPr lang="en-US"/>
          </a:p>
        </p:txBody>
      </p:sp>
      <p:sp>
        <p:nvSpPr>
          <p:cNvPr id="19" name="logo-0"/>
          <p:cNvSpPr/>
          <p:nvPr/>
        </p:nvSpPr>
        <p:spPr>
          <a:xfrm>
            <a:off x="575749" y="4864354"/>
            <a:ext cx="43571" cy="50292"/>
          </a:xfrm>
          <a:custGeom>
            <a:avLst/>
            <a:gdLst/>
            <a:ahLst/>
            <a:cxnLst/>
            <a:rect l="l" t="t" r="r" b="b"/>
            <a:pathLst>
              <a:path w="43571" h="50292">
                <a:moveTo>
                  <a:pt x="21786" y="0"/>
                </a:moveTo>
                <a:lnTo>
                  <a:pt x="43571" y="12573"/>
                </a:lnTo>
                <a:lnTo>
                  <a:pt x="43571" y="37719"/>
                </a:lnTo>
                <a:lnTo>
                  <a:pt x="21786" y="50292"/>
                </a:lnTo>
                <a:lnTo>
                  <a:pt x="0" y="37719"/>
                </a:lnTo>
                <a:lnTo>
                  <a:pt x="0" y="12573"/>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go-1"/>
          <p:cNvSpPr/>
          <p:nvPr/>
        </p:nvSpPr>
        <p:spPr>
          <a:xfrm>
            <a:off x="472879" y="4864354"/>
            <a:ext cx="43571" cy="50292"/>
          </a:xfrm>
          <a:custGeom>
            <a:avLst/>
            <a:gdLst/>
            <a:ahLst/>
            <a:cxnLst/>
            <a:rect l="l" t="t" r="r" b="b"/>
            <a:pathLst>
              <a:path w="43571" h="50292">
                <a:moveTo>
                  <a:pt x="21786" y="0"/>
                </a:moveTo>
                <a:lnTo>
                  <a:pt x="43571" y="12573"/>
                </a:lnTo>
                <a:lnTo>
                  <a:pt x="43571" y="37719"/>
                </a:lnTo>
                <a:lnTo>
                  <a:pt x="21786" y="50292"/>
                </a:lnTo>
                <a:lnTo>
                  <a:pt x="0" y="37719"/>
                </a:lnTo>
                <a:lnTo>
                  <a:pt x="0" y="12573"/>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ogo-2"/>
          <p:cNvSpPr/>
          <p:nvPr/>
        </p:nvSpPr>
        <p:spPr>
          <a:xfrm>
            <a:off x="550031" y="4819777"/>
            <a:ext cx="43572" cy="50292"/>
          </a:xfrm>
          <a:custGeom>
            <a:avLst/>
            <a:gdLst/>
            <a:ahLst/>
            <a:cxnLst/>
            <a:rect l="l" t="t" r="r" b="b"/>
            <a:pathLst>
              <a:path w="43572" h="50292">
                <a:moveTo>
                  <a:pt x="21786" y="0"/>
                </a:moveTo>
                <a:lnTo>
                  <a:pt x="43572" y="12573"/>
                </a:lnTo>
                <a:lnTo>
                  <a:pt x="43572" y="37719"/>
                </a:lnTo>
                <a:lnTo>
                  <a:pt x="21786" y="50292"/>
                </a:lnTo>
                <a:lnTo>
                  <a:pt x="0" y="37719"/>
                </a:lnTo>
                <a:lnTo>
                  <a:pt x="0" y="12573"/>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ogo-3"/>
          <p:cNvSpPr/>
          <p:nvPr/>
        </p:nvSpPr>
        <p:spPr>
          <a:xfrm>
            <a:off x="498596" y="4819777"/>
            <a:ext cx="43572" cy="50292"/>
          </a:xfrm>
          <a:custGeom>
            <a:avLst/>
            <a:gdLst/>
            <a:ahLst/>
            <a:cxnLst/>
            <a:rect l="l" t="t" r="r" b="b"/>
            <a:pathLst>
              <a:path w="43572" h="50292">
                <a:moveTo>
                  <a:pt x="21786" y="0"/>
                </a:moveTo>
                <a:lnTo>
                  <a:pt x="43572" y="12573"/>
                </a:lnTo>
                <a:lnTo>
                  <a:pt x="43572" y="37719"/>
                </a:lnTo>
                <a:lnTo>
                  <a:pt x="21786" y="50292"/>
                </a:lnTo>
                <a:lnTo>
                  <a:pt x="0" y="37719"/>
                </a:lnTo>
                <a:lnTo>
                  <a:pt x="0" y="12573"/>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ogo-4"/>
          <p:cNvSpPr/>
          <p:nvPr/>
        </p:nvSpPr>
        <p:spPr>
          <a:xfrm>
            <a:off x="550031" y="4908931"/>
            <a:ext cx="43572" cy="50292"/>
          </a:xfrm>
          <a:custGeom>
            <a:avLst/>
            <a:gdLst/>
            <a:ahLst/>
            <a:cxnLst/>
            <a:rect l="l" t="t" r="r" b="b"/>
            <a:pathLst>
              <a:path w="43572" h="50292">
                <a:moveTo>
                  <a:pt x="21786" y="0"/>
                </a:moveTo>
                <a:lnTo>
                  <a:pt x="43572" y="12573"/>
                </a:lnTo>
                <a:lnTo>
                  <a:pt x="43572" y="37719"/>
                </a:lnTo>
                <a:lnTo>
                  <a:pt x="21786" y="50292"/>
                </a:lnTo>
                <a:lnTo>
                  <a:pt x="0" y="37719"/>
                </a:lnTo>
                <a:lnTo>
                  <a:pt x="0" y="12573"/>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ogo-5"/>
          <p:cNvSpPr/>
          <p:nvPr/>
        </p:nvSpPr>
        <p:spPr>
          <a:xfrm>
            <a:off x="498596" y="4908931"/>
            <a:ext cx="43572" cy="50292"/>
          </a:xfrm>
          <a:custGeom>
            <a:avLst/>
            <a:gdLst/>
            <a:ahLst/>
            <a:cxnLst/>
            <a:rect l="l" t="t" r="r" b="b"/>
            <a:pathLst>
              <a:path w="43572" h="50292">
                <a:moveTo>
                  <a:pt x="21786" y="0"/>
                </a:moveTo>
                <a:lnTo>
                  <a:pt x="43572" y="12573"/>
                </a:lnTo>
                <a:lnTo>
                  <a:pt x="43572" y="37719"/>
                </a:lnTo>
                <a:lnTo>
                  <a:pt x="21786" y="50292"/>
                </a:lnTo>
                <a:lnTo>
                  <a:pt x="0" y="37719"/>
                </a:lnTo>
                <a:lnTo>
                  <a:pt x="0" y="12573"/>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go-center"/>
          <p:cNvSpPr/>
          <p:nvPr/>
        </p:nvSpPr>
        <p:spPr>
          <a:xfrm>
            <a:off x="524314" y="4864354"/>
            <a:ext cx="43571" cy="50292"/>
          </a:xfrm>
          <a:custGeom>
            <a:avLst/>
            <a:gdLst/>
            <a:ahLst/>
            <a:cxnLst/>
            <a:rect l="l" t="t" r="r" b="b"/>
            <a:pathLst>
              <a:path w="43571" h="50292">
                <a:moveTo>
                  <a:pt x="21786" y="0"/>
                </a:moveTo>
                <a:lnTo>
                  <a:pt x="43571" y="12573"/>
                </a:lnTo>
                <a:lnTo>
                  <a:pt x="43571" y="37719"/>
                </a:lnTo>
                <a:lnTo>
                  <a:pt x="21786" y="50292"/>
                </a:lnTo>
                <a:lnTo>
                  <a:pt x="0" y="37719"/>
                </a:lnTo>
                <a:lnTo>
                  <a:pt x="0" y="12573"/>
                </a:lnTo>
                <a:close/>
              </a:path>
            </a:pathLst>
          </a:cu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 Id="rId5" Type="http://schemas.openxmlformats.org/officeDocument/2006/relationships/image" Target="../media/image-8-1.png"/></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 Id="rId5" Type="http://schemas.openxmlformats.org/officeDocument/2006/relationships/image" Target="../media/image-7-2.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 Id="rId5" Type="http://schemas.openxmlformats.org/officeDocument/2006/relationships/image" Target="../media/image-8-2.png"/></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 Id="rId5" Type="http://schemas.openxmlformats.org/officeDocument/2006/relationships/image" Target="../media/image-9-1.png"/></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280160"/>
          </a:xfrm>
          <a:prstGeom prst="rect">
            <a:avLst/>
          </a:prstGeom>
          <a:noFill/>
          <a:ln/>
        </p:spPr>
        <p:txBody>
          <a:bodyPr wrap="square" lIns="0" tIns="0" rIns="0" bIns="0" rtlCol="0" anchor="b"/>
          <a:lstStyle/>
          <a:p>
            <a:pPr algn="l" indent="0" marL="0">
              <a:buNone/>
            </a:pPr>
            <a:r>
              <a:rPr b="1" sz="5400"/>
              <a:t>hive</a:t>
            </a:r>
            <a:r>
              <a:rPr b="0" sz="5400"/>
              <a:t>voice</a:t>
            </a:r>
            <a:endParaRPr lang="en-US" sz="5400" dirty="0"/>
          </a:p>
        </p:txBody>
      </p:sp>
      <p:sp>
        <p:nvSpPr>
          <p:cNvPr id="3" name="Text 0"/>
          <p:cNvSpPr/>
          <p:nvPr>
            <p:ph idx="101" type="body" hasCustomPrompt="1"/>
          </p:nvPr>
        </p:nvSpPr>
        <p:spPr>
          <a:xfrm>
            <a:off x="548640" y="2788920"/>
            <a:ext cx="4937760" cy="1097280"/>
          </a:xfrm>
          <a:prstGeom prst="rect">
            <a:avLst/>
          </a:prstGeom>
          <a:noFill/>
          <a:ln/>
        </p:spPr>
        <p:txBody>
          <a:bodyPr wrap="square" lIns="0" tIns="0" rIns="0" bIns="0" rtlCol="0" anchor="t"/>
          <a:lstStyle/>
          <a:p>
            <a:pPr algn="l" indent="0" marL="0">
              <a:buNone/>
            </a:pPr>
            <a:r>
              <a:rPr lang="en-US" sz="2000" dirty="0">
                <a:solidFill>
                  <a:schemeClr val="bg1"/>
                </a:solidFill>
              </a:rPr>
              <a:t>Gemeinsam bewegen, was vor Ort fehlt.</a:t>
            </a:r>
            <a:endParaRPr lang="en-US" sz="2000" dirty="0"/>
          </a:p>
        </p:txBody>
      </p:sp>
      <p:sp>
        <p:nvSpPr>
          <p:cNvPr id="4" name="!!logo-0"/>
          <p:cNvSpPr/>
          <p:nvPr/>
        </p:nvSpPr>
        <p:spPr>
          <a:xfrm>
            <a:off x="7540269" y="1859280"/>
            <a:ext cx="629361" cy="726440"/>
          </a:xfrm>
          <a:custGeom>
            <a:avLst/>
            <a:gdLst/>
            <a:ahLst/>
            <a:cxnLst/>
            <a:rect l="l" t="t" r="r" b="b"/>
            <a:pathLst>
              <a:path w="629361" h="726440">
                <a:moveTo>
                  <a:pt x="314681" y="0"/>
                </a:moveTo>
                <a:lnTo>
                  <a:pt x="629361" y="181609"/>
                </a:lnTo>
                <a:lnTo>
                  <a:pt x="629361" y="544830"/>
                </a:lnTo>
                <a:lnTo>
                  <a:pt x="314681" y="726440"/>
                </a:lnTo>
                <a:lnTo>
                  <a:pt x="0" y="544830"/>
                </a:lnTo>
                <a:lnTo>
                  <a:pt x="0" y="181609"/>
                </a:lnTo>
                <a:close/>
              </a:path>
            </a:pathLst>
          </a:cu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ogo-1"/>
          <p:cNvSpPr/>
          <p:nvPr/>
        </p:nvSpPr>
        <p:spPr>
          <a:xfrm>
            <a:off x="6054369" y="1859280"/>
            <a:ext cx="629361" cy="726440"/>
          </a:xfrm>
          <a:custGeom>
            <a:avLst/>
            <a:gdLst/>
            <a:ahLst/>
            <a:cxnLst/>
            <a:rect l="l" t="t" r="r" b="b"/>
            <a:pathLst>
              <a:path w="629361" h="726440">
                <a:moveTo>
                  <a:pt x="314681" y="0"/>
                </a:moveTo>
                <a:lnTo>
                  <a:pt x="629361" y="181609"/>
                </a:lnTo>
                <a:lnTo>
                  <a:pt x="629361" y="544830"/>
                </a:lnTo>
                <a:lnTo>
                  <a:pt x="314681" y="726440"/>
                </a:lnTo>
                <a:lnTo>
                  <a:pt x="0" y="544830"/>
                </a:lnTo>
                <a:lnTo>
                  <a:pt x="0" y="181609"/>
                </a:lnTo>
                <a:close/>
              </a:path>
            </a:pathLst>
          </a:cu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ogo-2"/>
          <p:cNvSpPr/>
          <p:nvPr/>
        </p:nvSpPr>
        <p:spPr>
          <a:xfrm>
            <a:off x="7168794" y="1215390"/>
            <a:ext cx="629361" cy="726440"/>
          </a:xfrm>
          <a:custGeom>
            <a:avLst/>
            <a:gdLst/>
            <a:ahLst/>
            <a:cxnLst/>
            <a:rect l="l" t="t" r="r" b="b"/>
            <a:pathLst>
              <a:path w="629361" h="726440">
                <a:moveTo>
                  <a:pt x="314681" y="0"/>
                </a:moveTo>
                <a:lnTo>
                  <a:pt x="629361" y="181610"/>
                </a:lnTo>
                <a:lnTo>
                  <a:pt x="629361" y="544830"/>
                </a:lnTo>
                <a:lnTo>
                  <a:pt x="314681" y="726440"/>
                </a:lnTo>
                <a:lnTo>
                  <a:pt x="0" y="544830"/>
                </a:lnTo>
                <a:lnTo>
                  <a:pt x="0" y="181610"/>
                </a:lnTo>
                <a:close/>
              </a:path>
            </a:pathLst>
          </a:cu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ogo-3"/>
          <p:cNvSpPr/>
          <p:nvPr/>
        </p:nvSpPr>
        <p:spPr>
          <a:xfrm>
            <a:off x="6425844" y="1215390"/>
            <a:ext cx="629361" cy="726440"/>
          </a:xfrm>
          <a:custGeom>
            <a:avLst/>
            <a:gdLst/>
            <a:ahLst/>
            <a:cxnLst/>
            <a:rect l="l" t="t" r="r" b="b"/>
            <a:pathLst>
              <a:path w="629361" h="726440">
                <a:moveTo>
                  <a:pt x="314681" y="0"/>
                </a:moveTo>
                <a:lnTo>
                  <a:pt x="629361" y="181610"/>
                </a:lnTo>
                <a:lnTo>
                  <a:pt x="629361" y="544830"/>
                </a:lnTo>
                <a:lnTo>
                  <a:pt x="314681" y="726440"/>
                </a:lnTo>
                <a:lnTo>
                  <a:pt x="0" y="544830"/>
                </a:lnTo>
                <a:lnTo>
                  <a:pt x="0" y="181610"/>
                </a:lnTo>
                <a:close/>
              </a:path>
            </a:pathLst>
          </a:cu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ogo-4"/>
          <p:cNvSpPr/>
          <p:nvPr/>
        </p:nvSpPr>
        <p:spPr>
          <a:xfrm>
            <a:off x="7168794" y="2503170"/>
            <a:ext cx="629361" cy="726440"/>
          </a:xfrm>
          <a:custGeom>
            <a:avLst/>
            <a:gdLst/>
            <a:ahLst/>
            <a:cxnLst/>
            <a:rect l="l" t="t" r="r" b="b"/>
            <a:pathLst>
              <a:path w="629361" h="726440">
                <a:moveTo>
                  <a:pt x="314681" y="0"/>
                </a:moveTo>
                <a:lnTo>
                  <a:pt x="629361" y="181610"/>
                </a:lnTo>
                <a:lnTo>
                  <a:pt x="629361" y="544830"/>
                </a:lnTo>
                <a:lnTo>
                  <a:pt x="314681" y="726440"/>
                </a:lnTo>
                <a:lnTo>
                  <a:pt x="0" y="544830"/>
                </a:lnTo>
                <a:lnTo>
                  <a:pt x="0" y="181610"/>
                </a:lnTo>
                <a:close/>
              </a:path>
            </a:pathLst>
          </a:cu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go-5"/>
          <p:cNvSpPr/>
          <p:nvPr/>
        </p:nvSpPr>
        <p:spPr>
          <a:xfrm>
            <a:off x="6425844" y="2503170"/>
            <a:ext cx="629361" cy="726440"/>
          </a:xfrm>
          <a:custGeom>
            <a:avLst/>
            <a:gdLst/>
            <a:ahLst/>
            <a:cxnLst/>
            <a:rect l="l" t="t" r="r" b="b"/>
            <a:pathLst>
              <a:path w="629361" h="726440">
                <a:moveTo>
                  <a:pt x="314681" y="0"/>
                </a:moveTo>
                <a:lnTo>
                  <a:pt x="629361" y="181610"/>
                </a:lnTo>
                <a:lnTo>
                  <a:pt x="629361" y="544830"/>
                </a:lnTo>
                <a:lnTo>
                  <a:pt x="314681" y="726440"/>
                </a:lnTo>
                <a:lnTo>
                  <a:pt x="0" y="544830"/>
                </a:lnTo>
                <a:lnTo>
                  <a:pt x="0" y="181610"/>
                </a:lnTo>
                <a:close/>
              </a:path>
            </a:pathLst>
          </a:cu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go-6"/>
          <p:cNvSpPr/>
          <p:nvPr/>
        </p:nvSpPr>
        <p:spPr>
          <a:xfrm>
            <a:off x="6797319" y="1859280"/>
            <a:ext cx="629361" cy="726440"/>
          </a:xfrm>
          <a:custGeom>
            <a:avLst/>
            <a:gdLst/>
            <a:ahLst/>
            <a:cxnLst/>
            <a:rect l="l" t="t" r="r" b="b"/>
            <a:pathLst>
              <a:path w="629361" h="726440">
                <a:moveTo>
                  <a:pt x="314681" y="0"/>
                </a:moveTo>
                <a:lnTo>
                  <a:pt x="629361" y="181609"/>
                </a:lnTo>
                <a:lnTo>
                  <a:pt x="629361" y="544830"/>
                </a:lnTo>
                <a:lnTo>
                  <a:pt x="314681" y="726440"/>
                </a:lnTo>
                <a:lnTo>
                  <a:pt x="0" y="544830"/>
                </a:lnTo>
                <a:lnTo>
                  <a:pt x="0" y="181609"/>
                </a:lnTo>
                <a:close/>
              </a:path>
            </a:pathLst>
          </a:cu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Engagement zerfällt heute in viele Apps</a:t>
            </a:r>
            <a:endParaRPr lang="en-US" sz="3000" dirty="0"/>
          </a:p>
        </p:txBody>
      </p:sp>
      <p:sp>
        <p:nvSpPr>
          <p:cNvPr id="3" name="problem-text"/>
          <p:cNvSpPr txBox="1"/>
          <p:nvPr/>
        </p:nvSpPr>
        <p:spPr>
          <a:xfrm>
            <a:off x="457200" y="1234440"/>
            <a:ext cx="3840480" cy="2377440"/>
          </a:xfrm>
          <a:prstGeom prst="rect">
            <a:avLst/>
          </a:prstGeom>
          <a:noFill/>
          <a:ln/>
        </p:spPr>
        <p:txBody>
          <a:bodyPr wrap="square" lIns="0" tIns="0" rIns="0" bIns="0" rtlCol="0" anchor="t"/>
          <a:lstStyle/>
          <a:p>
            <a:pPr indent="0" marL="0">
              <a:buNone/>
            </a:pPr>
            <a:r>
              <a:rPr lang="en-US" sz="1600" dirty="0">
                <a:solidFill>
                  <a:schemeClr val="tx1"/>
                </a:solidFill>
              </a:rPr>
              <a:t>Wer etwas bewegen will, springt zwischen Gruppen-Chats, Kleinanzeigen, Petitionsseiten und Mails.</a:t>
            </a:r>
            <a:endParaRPr lang="en-US" sz="1600" dirty="0"/>
          </a:p>
          <a:p>
            <a:pPr indent="0" marL="0">
              <a:buNone/>
            </a:pPr>
            <a:r>
              <a:rPr lang="en-US" sz="800" dirty="0">
                <a:solidFill>
                  <a:schemeClr val="tx1"/>
                </a:solidFill>
              </a:rPr>
              <a:t> </a:t>
            </a:r>
            <a:endParaRPr lang="en-US" sz="1600" dirty="0"/>
          </a:p>
          <a:p>
            <a:pPr indent="0" marL="0">
              <a:buNone/>
            </a:pPr>
            <a:r>
              <a:rPr lang="en-US" sz="1600" dirty="0">
                <a:solidFill>
                  <a:schemeClr val="tx1"/>
                </a:solidFill>
              </a:rPr>
              <a:t>Plattformen belohnen, was Reaktionen auslöst, nicht was weiterhilft. Und wer eine Forderung stellt, bekommt selten eine Antwort.</a:t>
            </a:r>
            <a:endParaRPr lang="en-US" sz="1600" dirty="0"/>
          </a:p>
        </p:txBody>
      </p:sp>
      <p:sp>
        <p:nvSpPr>
          <p:cNvPr id="4" name="app-0"/>
          <p:cNvSpPr/>
          <p:nvPr/>
        </p:nvSpPr>
        <p:spPr>
          <a:xfrm>
            <a:off x="4754880" y="1234440"/>
            <a:ext cx="1828800" cy="438912"/>
          </a:xfrm>
          <a:prstGeom prst="rect">
            <a:avLst/>
          </a:prstGeom>
          <a:solidFill>
            <a:schemeClr val="accent4"/>
          </a:solidFill>
          <a:ln w="12700">
            <a:solidFill>
              <a:schemeClr val="accent4"/>
            </a:solidFill>
            <a:prstDash val="solid"/>
          </a:ln>
        </p:spPr>
      </p:sp>
      <p:sp>
        <p:nvSpPr>
          <p:cNvPr id="5" name="app-t-0"/>
          <p:cNvSpPr txBox="1"/>
          <p:nvPr/>
        </p:nvSpPr>
        <p:spPr>
          <a:xfrm>
            <a:off x="4754880" y="1234440"/>
            <a:ext cx="1828800" cy="438912"/>
          </a:xfrm>
          <a:prstGeom prst="rect">
            <a:avLst/>
          </a:prstGeom>
          <a:noFill/>
          <a:ln/>
        </p:spPr>
        <p:txBody>
          <a:bodyPr wrap="square" lIns="0" tIns="0" rIns="0" bIns="0" rtlCol="0" anchor="ctr"/>
          <a:lstStyle/>
          <a:p>
            <a:pPr algn="ctr" indent="0" marL="0">
              <a:buNone/>
            </a:pPr>
            <a:r>
              <a:rPr lang="en-US" sz="1300" dirty="0">
                <a:solidFill>
                  <a:schemeClr val="tx1"/>
                </a:solidFill>
              </a:rPr>
              <a:t>Gruppen-Chats</a:t>
            </a:r>
            <a:endParaRPr lang="en-US" sz="1300" dirty="0"/>
          </a:p>
        </p:txBody>
      </p:sp>
      <p:sp>
        <p:nvSpPr>
          <p:cNvPr id="6" name="app-1"/>
          <p:cNvSpPr/>
          <p:nvPr/>
        </p:nvSpPr>
        <p:spPr>
          <a:xfrm>
            <a:off x="6720840" y="1234440"/>
            <a:ext cx="1828800" cy="438912"/>
          </a:xfrm>
          <a:prstGeom prst="rect">
            <a:avLst/>
          </a:prstGeom>
          <a:solidFill>
            <a:schemeClr val="accent4"/>
          </a:solidFill>
          <a:ln w="12700">
            <a:solidFill>
              <a:schemeClr val="accent4"/>
            </a:solidFill>
            <a:prstDash val="solid"/>
          </a:ln>
        </p:spPr>
      </p:sp>
      <p:sp>
        <p:nvSpPr>
          <p:cNvPr id="7" name="app-t-1"/>
          <p:cNvSpPr txBox="1"/>
          <p:nvPr/>
        </p:nvSpPr>
        <p:spPr>
          <a:xfrm>
            <a:off x="6720840" y="1234440"/>
            <a:ext cx="1828800" cy="438912"/>
          </a:xfrm>
          <a:prstGeom prst="rect">
            <a:avLst/>
          </a:prstGeom>
          <a:noFill/>
          <a:ln/>
        </p:spPr>
        <p:txBody>
          <a:bodyPr wrap="square" lIns="0" tIns="0" rIns="0" bIns="0" rtlCol="0" anchor="ctr"/>
          <a:lstStyle/>
          <a:p>
            <a:pPr algn="ctr" indent="0" marL="0">
              <a:buNone/>
            </a:pPr>
            <a:r>
              <a:rPr lang="en-US" sz="1300" dirty="0">
                <a:solidFill>
                  <a:schemeClr val="tx1"/>
                </a:solidFill>
              </a:rPr>
              <a:t>Soziale Medien</a:t>
            </a:r>
            <a:endParaRPr lang="en-US" sz="1300" dirty="0"/>
          </a:p>
        </p:txBody>
      </p:sp>
      <p:sp>
        <p:nvSpPr>
          <p:cNvPr id="8" name="app-2"/>
          <p:cNvSpPr/>
          <p:nvPr/>
        </p:nvSpPr>
        <p:spPr>
          <a:xfrm>
            <a:off x="4754880" y="1801368"/>
            <a:ext cx="1828800" cy="438912"/>
          </a:xfrm>
          <a:prstGeom prst="rect">
            <a:avLst/>
          </a:prstGeom>
          <a:solidFill>
            <a:schemeClr val="accent4"/>
          </a:solidFill>
          <a:ln w="12700">
            <a:solidFill>
              <a:schemeClr val="accent4"/>
            </a:solidFill>
            <a:prstDash val="solid"/>
          </a:ln>
        </p:spPr>
      </p:sp>
      <p:sp>
        <p:nvSpPr>
          <p:cNvPr id="9" name="app-t-2"/>
          <p:cNvSpPr txBox="1"/>
          <p:nvPr/>
        </p:nvSpPr>
        <p:spPr>
          <a:xfrm>
            <a:off x="4754880" y="1801368"/>
            <a:ext cx="1828800" cy="438912"/>
          </a:xfrm>
          <a:prstGeom prst="rect">
            <a:avLst/>
          </a:prstGeom>
          <a:noFill/>
          <a:ln/>
        </p:spPr>
        <p:txBody>
          <a:bodyPr wrap="square" lIns="0" tIns="0" rIns="0" bIns="0" rtlCol="0" anchor="ctr"/>
          <a:lstStyle/>
          <a:p>
            <a:pPr algn="ctr" indent="0" marL="0">
              <a:buNone/>
            </a:pPr>
            <a:r>
              <a:rPr lang="en-US" sz="1300" dirty="0">
                <a:solidFill>
                  <a:schemeClr val="tx1"/>
                </a:solidFill>
              </a:rPr>
              <a:t>Kleinanzeigen</a:t>
            </a:r>
            <a:endParaRPr lang="en-US" sz="1300" dirty="0"/>
          </a:p>
        </p:txBody>
      </p:sp>
      <p:sp>
        <p:nvSpPr>
          <p:cNvPr id="10" name="app-3"/>
          <p:cNvSpPr/>
          <p:nvPr/>
        </p:nvSpPr>
        <p:spPr>
          <a:xfrm>
            <a:off x="6720840" y="1801368"/>
            <a:ext cx="1828800" cy="438912"/>
          </a:xfrm>
          <a:prstGeom prst="rect">
            <a:avLst/>
          </a:prstGeom>
          <a:solidFill>
            <a:schemeClr val="accent4"/>
          </a:solidFill>
          <a:ln w="12700">
            <a:solidFill>
              <a:schemeClr val="accent4"/>
            </a:solidFill>
            <a:prstDash val="solid"/>
          </a:ln>
        </p:spPr>
      </p:sp>
      <p:sp>
        <p:nvSpPr>
          <p:cNvPr id="11" name="app-t-3"/>
          <p:cNvSpPr txBox="1"/>
          <p:nvPr/>
        </p:nvSpPr>
        <p:spPr>
          <a:xfrm>
            <a:off x="6720840" y="1801368"/>
            <a:ext cx="1828800" cy="438912"/>
          </a:xfrm>
          <a:prstGeom prst="rect">
            <a:avLst/>
          </a:prstGeom>
          <a:noFill/>
          <a:ln/>
        </p:spPr>
        <p:txBody>
          <a:bodyPr wrap="square" lIns="0" tIns="0" rIns="0" bIns="0" rtlCol="0" anchor="ctr"/>
          <a:lstStyle/>
          <a:p>
            <a:pPr algn="ctr" indent="0" marL="0">
              <a:buNone/>
            </a:pPr>
            <a:r>
              <a:rPr lang="en-US" sz="1300" dirty="0">
                <a:solidFill>
                  <a:schemeClr val="tx1"/>
                </a:solidFill>
              </a:rPr>
              <a:t>Petitionen</a:t>
            </a:r>
            <a:endParaRPr lang="en-US" sz="1300" dirty="0"/>
          </a:p>
        </p:txBody>
      </p:sp>
      <p:sp>
        <p:nvSpPr>
          <p:cNvPr id="12" name="app-4"/>
          <p:cNvSpPr/>
          <p:nvPr/>
        </p:nvSpPr>
        <p:spPr>
          <a:xfrm>
            <a:off x="4754880" y="2368296"/>
            <a:ext cx="1828800" cy="438912"/>
          </a:xfrm>
          <a:prstGeom prst="rect">
            <a:avLst/>
          </a:prstGeom>
          <a:solidFill>
            <a:schemeClr val="accent4"/>
          </a:solidFill>
          <a:ln w="12700">
            <a:solidFill>
              <a:schemeClr val="accent4"/>
            </a:solidFill>
            <a:prstDash val="solid"/>
          </a:ln>
        </p:spPr>
      </p:sp>
      <p:sp>
        <p:nvSpPr>
          <p:cNvPr id="13" name="app-t-4"/>
          <p:cNvSpPr txBox="1"/>
          <p:nvPr/>
        </p:nvSpPr>
        <p:spPr>
          <a:xfrm>
            <a:off x="4754880" y="2368296"/>
            <a:ext cx="1828800" cy="438912"/>
          </a:xfrm>
          <a:prstGeom prst="rect">
            <a:avLst/>
          </a:prstGeom>
          <a:noFill/>
          <a:ln/>
        </p:spPr>
        <p:txBody>
          <a:bodyPr wrap="square" lIns="0" tIns="0" rIns="0" bIns="0" rtlCol="0" anchor="ctr"/>
          <a:lstStyle/>
          <a:p>
            <a:pPr algn="ctr" indent="0" marL="0">
              <a:buNone/>
            </a:pPr>
            <a:r>
              <a:rPr lang="en-US" sz="1300" dirty="0">
                <a:solidFill>
                  <a:schemeClr val="tx1"/>
                </a:solidFill>
              </a:rPr>
              <a:t>E-Mail-Verteiler</a:t>
            </a:r>
            <a:endParaRPr lang="en-US" sz="1300" dirty="0"/>
          </a:p>
        </p:txBody>
      </p:sp>
      <p:sp>
        <p:nvSpPr>
          <p:cNvPr id="14" name="app-5"/>
          <p:cNvSpPr/>
          <p:nvPr/>
        </p:nvSpPr>
        <p:spPr>
          <a:xfrm>
            <a:off x="6720840" y="2368296"/>
            <a:ext cx="1828800" cy="438912"/>
          </a:xfrm>
          <a:prstGeom prst="rect">
            <a:avLst/>
          </a:prstGeom>
          <a:solidFill>
            <a:schemeClr val="accent4"/>
          </a:solidFill>
          <a:ln w="12700">
            <a:solidFill>
              <a:schemeClr val="accent4"/>
            </a:solidFill>
            <a:prstDash val="solid"/>
          </a:ln>
        </p:spPr>
      </p:sp>
      <p:sp>
        <p:nvSpPr>
          <p:cNvPr id="15" name="app-t-5"/>
          <p:cNvSpPr txBox="1"/>
          <p:nvPr/>
        </p:nvSpPr>
        <p:spPr>
          <a:xfrm>
            <a:off x="6720840" y="2368296"/>
            <a:ext cx="1828800" cy="438912"/>
          </a:xfrm>
          <a:prstGeom prst="rect">
            <a:avLst/>
          </a:prstGeom>
          <a:noFill/>
          <a:ln/>
        </p:spPr>
        <p:txBody>
          <a:bodyPr wrap="square" lIns="0" tIns="0" rIns="0" bIns="0" rtlCol="0" anchor="ctr"/>
          <a:lstStyle/>
          <a:p>
            <a:pPr algn="ctr" indent="0" marL="0">
              <a:buNone/>
            </a:pPr>
            <a:r>
              <a:rPr lang="en-US" sz="1300" dirty="0">
                <a:solidFill>
                  <a:schemeClr val="tx1"/>
                </a:solidFill>
              </a:rPr>
              <a:t>Aushang im Haus</a:t>
            </a:r>
            <a:endParaRPr lang="en-US" sz="1300" dirty="0"/>
          </a:p>
        </p:txBody>
      </p:sp>
      <p:sp>
        <p:nvSpPr>
          <p:cNvPr id="16" name="arrow"/>
          <p:cNvSpPr/>
          <p:nvPr/>
        </p:nvSpPr>
        <p:spPr>
          <a:xfrm>
            <a:off x="6355080" y="2971800"/>
            <a:ext cx="457200" cy="411480"/>
          </a:xfrm>
          <a:prstGeom prst="downArrow">
            <a:avLst/>
          </a:prstGeom>
          <a:solidFill>
            <a:schemeClr val="tx2"/>
          </a:solidFill>
          <a:ln w="12700">
            <a:solidFill>
              <a:schemeClr val="tx2"/>
            </a:solidFill>
            <a:prstDash val="solid"/>
          </a:ln>
        </p:spPr>
      </p:sp>
      <p:sp>
        <p:nvSpPr>
          <p:cNvPr id="17" name="one"/>
          <p:cNvSpPr/>
          <p:nvPr/>
        </p:nvSpPr>
        <p:spPr>
          <a:xfrm>
            <a:off x="4754880" y="3520440"/>
            <a:ext cx="3794760" cy="685800"/>
          </a:xfrm>
          <a:prstGeom prst="rect">
            <a:avLst/>
          </a:prstGeom>
          <a:solidFill>
            <a:schemeClr val="tx1"/>
          </a:solidFill>
          <a:ln w="12700">
            <a:solidFill>
              <a:schemeClr val="tx1"/>
            </a:solidFill>
            <a:prstDash val="solid"/>
          </a:ln>
        </p:spPr>
      </p:sp>
      <p:sp>
        <p:nvSpPr>
          <p:cNvPr id="18" name="one-t"/>
          <p:cNvSpPr txBox="1"/>
          <p:nvPr/>
        </p:nvSpPr>
        <p:spPr>
          <a:xfrm>
            <a:off x="4892040" y="3520440"/>
            <a:ext cx="3566160" cy="685800"/>
          </a:xfrm>
          <a:prstGeom prst="rect">
            <a:avLst/>
          </a:prstGeom>
          <a:noFill/>
          <a:ln/>
        </p:spPr>
        <p:txBody>
          <a:bodyPr wrap="square" lIns="0" tIns="0" rIns="0" bIns="0" rtlCol="0" anchor="ctr"/>
          <a:lstStyle/>
          <a:p>
            <a:pPr indent="0" marL="0">
              <a:buNone/>
            </a:pPr>
            <a:r>
              <a:rPr lang="en-US" sz="1500" b="1" dirty="0">
                <a:solidFill>
                  <a:schemeClr val="bg1"/>
                </a:solidFill>
              </a:rPr>
              <a:t>Ein Ort: </a:t>
            </a:r>
            <a:pPr indent="0" marL="0">
              <a:buNone/>
            </a:pPr>
            <a:r>
              <a:rPr lang="en-US" sz="1500" dirty="0">
                <a:solidFill>
                  <a:schemeClr val="bg1"/>
                </a:solidFill>
              </a:rPr>
              <a:t>bieten, suchen, entscheiden, fordern</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eed-title"/>
          <p:cNvSpPr txBox="1"/>
          <p:nvPr/>
        </p:nvSpPr>
        <p:spPr>
          <a:xfrm>
            <a:off x="546100" y="457200"/>
            <a:ext cx="8051800" cy="635000"/>
          </a:xfrm>
          <a:prstGeom prst="rect">
            <a:avLst/>
          </a:prstGeom>
          <a:noFill/>
        </p:spPr>
        <p:txBody>
          <a:bodyPr wrap="square" anchor="t" lIns="0" rIns="0" tIns="0" bIns="0">
            <a:spAutoFit/>
          </a:bodyPr>
          <a:lstStyle/>
          <a:p>
            <a:r>
              <a:rPr sz="3000" b="1">
                <a:solidFill>
                  <a:srgbClr val="FFFFFF"/>
                </a:solidFill>
              </a:rPr>
              <a:t>Was vor Ort fehlt</a:t>
            </a:r>
          </a:p>
        </p:txBody>
      </p:sp>
      <p:sp>
        <p:nvSpPr>
          <p:cNvPr id="3" name="!!need-label-0"/>
          <p:cNvSpPr txBox="1"/>
          <p:nvPr/>
        </p:nvSpPr>
        <p:spPr>
          <a:xfrm>
            <a:off x="546100" y="1524000"/>
            <a:ext cx="2489200" cy="254000"/>
          </a:xfrm>
          <a:prstGeom prst="rect">
            <a:avLst/>
          </a:prstGeom>
          <a:noFill/>
        </p:spPr>
        <p:txBody>
          <a:bodyPr wrap="square" anchor="t" lIns="0" rIns="0" tIns="0" bIns="0">
            <a:spAutoFit/>
          </a:bodyPr>
          <a:lstStyle/>
          <a:p>
            <a:r>
              <a:rPr sz="1000" b="1">
                <a:solidFill>
                  <a:srgbClr val="E2001A"/>
                </a:solidFill>
              </a:rPr>
              <a:t>MÜNCHEN</a:t>
            </a:r>
          </a:p>
        </p:txBody>
      </p:sp>
      <p:sp>
        <p:nvSpPr>
          <p:cNvPr id="4" name="!!need-num-0"/>
          <p:cNvSpPr txBox="1"/>
          <p:nvPr/>
        </p:nvSpPr>
        <p:spPr>
          <a:xfrm>
            <a:off x="546100" y="1803400"/>
            <a:ext cx="2489200" cy="762000"/>
          </a:xfrm>
          <a:prstGeom prst="rect">
            <a:avLst/>
          </a:prstGeom>
          <a:noFill/>
        </p:spPr>
        <p:txBody>
          <a:bodyPr wrap="square" anchor="t" lIns="0" rIns="0" tIns="0" bIns="0">
            <a:spAutoFit/>
          </a:bodyPr>
          <a:lstStyle/>
          <a:p>
            <a:r>
              <a:rPr sz="4600" b="1">
                <a:solidFill>
                  <a:srgbClr val="FFFFFF"/>
                </a:solidFill>
              </a:rPr>
              <a:t>23,35 €</a:t>
            </a:r>
          </a:p>
        </p:txBody>
      </p:sp>
      <p:sp>
        <p:nvSpPr>
          <p:cNvPr id="5" name="need-text-0"/>
          <p:cNvSpPr txBox="1"/>
          <p:nvPr/>
        </p:nvSpPr>
        <p:spPr>
          <a:xfrm>
            <a:off x="546100" y="2667000"/>
            <a:ext cx="2413000" cy="889000"/>
          </a:xfrm>
          <a:prstGeom prst="rect">
            <a:avLst/>
          </a:prstGeom>
          <a:noFill/>
        </p:spPr>
        <p:txBody>
          <a:bodyPr wrap="square" anchor="t" lIns="0" rIns="0" tIns="0" bIns="0">
            <a:spAutoFit/>
          </a:bodyPr>
          <a:lstStyle/>
          <a:p>
            <a:r>
              <a:rPr sz="1400" b="0">
                <a:solidFill>
                  <a:srgbClr val="B3B3B3"/>
                </a:solidFill>
              </a:rPr>
              <a:t>pro m² für neu angebotene Wohnungen, fast 9 € über dem Bundesschnitt</a:t>
            </a:r>
          </a:p>
        </p:txBody>
      </p:sp>
      <p:sp>
        <p:nvSpPr>
          <p:cNvPr id="6" name="!!need-label-1"/>
          <p:cNvSpPr txBox="1"/>
          <p:nvPr/>
        </p:nvSpPr>
        <p:spPr>
          <a:xfrm>
            <a:off x="3289300" y="1524000"/>
            <a:ext cx="2489200" cy="254000"/>
          </a:xfrm>
          <a:prstGeom prst="rect">
            <a:avLst/>
          </a:prstGeom>
          <a:noFill/>
        </p:spPr>
        <p:txBody>
          <a:bodyPr wrap="square" anchor="t" lIns="0" rIns="0" tIns="0" bIns="0">
            <a:spAutoFit/>
          </a:bodyPr>
          <a:lstStyle/>
          <a:p>
            <a:r>
              <a:rPr sz="1000" b="1">
                <a:solidFill>
                  <a:srgbClr val="E2001A"/>
                </a:solidFill>
              </a:rPr>
              <a:t>DEUTSCHLAND</a:t>
            </a:r>
          </a:p>
        </p:txBody>
      </p:sp>
      <p:sp>
        <p:nvSpPr>
          <p:cNvPr id="7" name="!!need-num-1"/>
          <p:cNvSpPr txBox="1"/>
          <p:nvPr/>
        </p:nvSpPr>
        <p:spPr>
          <a:xfrm>
            <a:off x="3289300" y="1803400"/>
            <a:ext cx="2489200" cy="762000"/>
          </a:xfrm>
          <a:prstGeom prst="rect">
            <a:avLst/>
          </a:prstGeom>
          <a:noFill/>
        </p:spPr>
        <p:txBody>
          <a:bodyPr wrap="square" anchor="t" lIns="0" rIns="0" tIns="0" bIns="0">
            <a:spAutoFit/>
          </a:bodyPr>
          <a:lstStyle/>
          <a:p>
            <a:r>
              <a:rPr sz="4600" b="1">
                <a:solidFill>
                  <a:srgbClr val="FFFFFF"/>
                </a:solidFill>
              </a:rPr>
              <a:t>1 von 9</a:t>
            </a:r>
          </a:p>
        </p:txBody>
      </p:sp>
      <p:sp>
        <p:nvSpPr>
          <p:cNvPr id="8" name="need-text-1"/>
          <p:cNvSpPr txBox="1"/>
          <p:nvPr/>
        </p:nvSpPr>
        <p:spPr>
          <a:xfrm>
            <a:off x="3289300" y="2667000"/>
            <a:ext cx="2413000" cy="889000"/>
          </a:xfrm>
          <a:prstGeom prst="rect">
            <a:avLst/>
          </a:prstGeom>
          <a:noFill/>
        </p:spPr>
        <p:txBody>
          <a:bodyPr wrap="square" anchor="t" lIns="0" rIns="0" tIns="0" bIns="0">
            <a:spAutoFit/>
          </a:bodyPr>
          <a:lstStyle/>
          <a:p>
            <a:r>
              <a:rPr sz="1400" b="0">
                <a:solidFill>
                  <a:srgbClr val="B3B3B3"/>
                </a:solidFill>
              </a:rPr>
              <a:t>Menschen fühlt sich häufig einsam, über 75-Jährige am stärksten</a:t>
            </a:r>
          </a:p>
        </p:txBody>
      </p:sp>
      <p:sp>
        <p:nvSpPr>
          <p:cNvPr id="9" name="!!need-label-2"/>
          <p:cNvSpPr txBox="1"/>
          <p:nvPr/>
        </p:nvSpPr>
        <p:spPr>
          <a:xfrm>
            <a:off x="6032500" y="1524000"/>
            <a:ext cx="2489200" cy="254000"/>
          </a:xfrm>
          <a:prstGeom prst="rect">
            <a:avLst/>
          </a:prstGeom>
          <a:noFill/>
        </p:spPr>
        <p:txBody>
          <a:bodyPr wrap="square" anchor="t" lIns="0" rIns="0" tIns="0" bIns="0">
            <a:spAutoFit/>
          </a:bodyPr>
          <a:lstStyle/>
          <a:p>
            <a:r>
              <a:rPr sz="1000" b="1">
                <a:solidFill>
                  <a:srgbClr val="E2001A"/>
                </a:solidFill>
              </a:rPr>
              <a:t>EUROPA</a:t>
            </a:r>
          </a:p>
        </p:txBody>
      </p:sp>
      <p:sp>
        <p:nvSpPr>
          <p:cNvPr id="10" name="!!need-num-2"/>
          <p:cNvSpPr txBox="1"/>
          <p:nvPr/>
        </p:nvSpPr>
        <p:spPr>
          <a:xfrm>
            <a:off x="6032500" y="1803400"/>
            <a:ext cx="2489200" cy="762000"/>
          </a:xfrm>
          <a:prstGeom prst="rect">
            <a:avLst/>
          </a:prstGeom>
          <a:noFill/>
        </p:spPr>
        <p:txBody>
          <a:bodyPr wrap="square" anchor="t" lIns="0" rIns="0" tIns="0" bIns="0">
            <a:spAutoFit/>
          </a:bodyPr>
          <a:lstStyle/>
          <a:p>
            <a:r>
              <a:rPr sz="4600" b="1">
                <a:solidFill>
                  <a:srgbClr val="FFFFFF"/>
                </a:solidFill>
              </a:rPr>
              <a:t>130 kg</a:t>
            </a:r>
          </a:p>
        </p:txBody>
      </p:sp>
      <p:sp>
        <p:nvSpPr>
          <p:cNvPr id="11" name="need-text-2"/>
          <p:cNvSpPr txBox="1"/>
          <p:nvPr/>
        </p:nvSpPr>
        <p:spPr>
          <a:xfrm>
            <a:off x="6032500" y="2667000"/>
            <a:ext cx="2413000" cy="889000"/>
          </a:xfrm>
          <a:prstGeom prst="rect">
            <a:avLst/>
          </a:prstGeom>
          <a:noFill/>
        </p:spPr>
        <p:txBody>
          <a:bodyPr wrap="square" anchor="t" lIns="0" rIns="0" tIns="0" bIns="0">
            <a:spAutoFit/>
          </a:bodyPr>
          <a:lstStyle/>
          <a:p>
            <a:r>
              <a:rPr sz="1400" b="0">
                <a:solidFill>
                  <a:srgbClr val="B3B3B3"/>
                </a:solidFill>
              </a:rPr>
              <a:t>Lebensmittel pro Kopf und Jahr landen in der EU im Abfall</a:t>
            </a:r>
          </a:p>
        </p:txBody>
      </p:sp>
      <p:sp>
        <p:nvSpPr>
          <p:cNvPr id="12" name="need-src"/>
          <p:cNvSpPr txBox="1"/>
          <p:nvPr/>
        </p:nvSpPr>
        <p:spPr>
          <a:xfrm>
            <a:off x="546100" y="4191000"/>
            <a:ext cx="8051800" cy="381000"/>
          </a:xfrm>
          <a:prstGeom prst="rect">
            <a:avLst/>
          </a:prstGeom>
          <a:noFill/>
        </p:spPr>
        <p:txBody>
          <a:bodyPr wrap="square" anchor="t" lIns="0" rIns="0" tIns="0" bIns="0">
            <a:spAutoFit/>
          </a:bodyPr>
          <a:lstStyle/>
          <a:p>
            <a:r>
              <a:rPr sz="900" b="0">
                <a:solidFill>
                  <a:srgbClr val="888888"/>
                </a:solidFill>
              </a:rPr>
              <a:t>Quellen: IfW Kiel, GREIX Q4/2025 · BMFSFJ, Einsamkeitsbarometer 2024 · Eurostat, Daten für 2023</a:t>
            </a:r>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idea-head"/>
          <p:cNvSpPr txBox="1"/>
          <p:nvPr/>
        </p:nvSpPr>
        <p:spPr>
          <a:xfrm>
            <a:off x="546100" y="3683000"/>
            <a:ext cx="8051800" cy="508000"/>
          </a:xfrm>
          <a:prstGeom prst="rect">
            <a:avLst/>
          </a:prstGeom>
          <a:noFill/>
        </p:spPr>
        <p:txBody>
          <a:bodyPr wrap="square" anchor="t" lIns="0" rIns="0" tIns="0" bIns="0">
            <a:spAutoFit/>
          </a:bodyPr>
          <a:lstStyle/>
          <a:p>
            <a:r>
              <a:rPr sz="2400" b="1">
                <a:solidFill>
                  <a:schemeClr val="tx1"/>
                </a:solidFill>
              </a:rPr>
              <a:t>Frag an, was dir fehlt. Biete, was du entbehren kannst.</a:t>
            </a:r>
          </a:p>
        </p:txBody>
      </p:sp>
      <p:sp>
        <p:nvSpPr>
          <p:cNvPr id="3" name="idea-sub"/>
          <p:cNvSpPr txBox="1"/>
          <p:nvPr/>
        </p:nvSpPr>
        <p:spPr>
          <a:xfrm>
            <a:off x="546100" y="4216400"/>
            <a:ext cx="8051800" cy="635000"/>
          </a:xfrm>
          <a:prstGeom prst="rect">
            <a:avLst/>
          </a:prstGeom>
          <a:noFill/>
        </p:spPr>
        <p:txBody>
          <a:bodyPr wrap="square" anchor="t" lIns="0" rIns="0" tIns="0" bIns="0">
            <a:spAutoFit/>
          </a:bodyPr>
          <a:lstStyle/>
          <a:p>
            <a:r>
              <a:rPr sz="1400" b="0">
                <a:solidFill>
                  <a:schemeClr val="tx2"/>
                </a:solidFill>
              </a:rPr>
              <a:t>Wer dasselbe will, verbindet sich zu Gruppen mit Zielen. Und wer etwas verändern will, bekommt eine Antwort.</a:t>
            </a:r>
          </a:p>
        </p:txBody>
      </p:sp>
      <p:sp>
        <p:nvSpPr>
          <p:cNvPr id="4" name="!!idea-logo-0"/>
          <p:cNvSpPr/>
          <p:nvPr/>
        </p:nvSpPr>
        <p:spPr>
          <a:xfrm>
            <a:off x="8590404" y="4816602"/>
            <a:ext cx="82301" cy="94996"/>
          </a:xfrm>
          <a:custGeom>
            <a:avLst/>
            <a:gdLst/>
            <a:ahLst/>
            <a:cxnLst/>
            <a:rect l="l" t="t" r="r" b="b"/>
            <a:pathLst>
              <a:path w="82301" h="94996">
                <a:moveTo>
                  <a:pt x="41151" y="0"/>
                </a:moveTo>
                <a:lnTo>
                  <a:pt x="82301" y="23749"/>
                </a:lnTo>
                <a:lnTo>
                  <a:pt x="82301" y="71247"/>
                </a:lnTo>
                <a:lnTo>
                  <a:pt x="41151" y="94996"/>
                </a:lnTo>
                <a:lnTo>
                  <a:pt x="0" y="71247"/>
                </a:lnTo>
                <a:lnTo>
                  <a:pt x="0" y="23749"/>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dea-logo-1"/>
          <p:cNvSpPr/>
          <p:nvPr/>
        </p:nvSpPr>
        <p:spPr>
          <a:xfrm>
            <a:off x="8396094" y="4816602"/>
            <a:ext cx="82301" cy="94996"/>
          </a:xfrm>
          <a:custGeom>
            <a:avLst/>
            <a:gdLst/>
            <a:ahLst/>
            <a:cxnLst/>
            <a:rect l="l" t="t" r="r" b="b"/>
            <a:pathLst>
              <a:path w="82301" h="94996">
                <a:moveTo>
                  <a:pt x="41151" y="0"/>
                </a:moveTo>
                <a:lnTo>
                  <a:pt x="82301" y="23749"/>
                </a:lnTo>
                <a:lnTo>
                  <a:pt x="82301" y="71247"/>
                </a:lnTo>
                <a:lnTo>
                  <a:pt x="41151" y="94996"/>
                </a:lnTo>
                <a:lnTo>
                  <a:pt x="0" y="71247"/>
                </a:lnTo>
                <a:lnTo>
                  <a:pt x="0" y="23749"/>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dea-logo-2"/>
          <p:cNvSpPr/>
          <p:nvPr/>
        </p:nvSpPr>
        <p:spPr>
          <a:xfrm>
            <a:off x="8541826" y="4732401"/>
            <a:ext cx="82302" cy="94996"/>
          </a:xfrm>
          <a:custGeom>
            <a:avLst/>
            <a:gdLst/>
            <a:ahLst/>
            <a:cxnLst/>
            <a:rect l="l" t="t" r="r" b="b"/>
            <a:pathLst>
              <a:path w="82302" h="94996">
                <a:moveTo>
                  <a:pt x="41151" y="0"/>
                </a:moveTo>
                <a:lnTo>
                  <a:pt x="82302" y="23749"/>
                </a:lnTo>
                <a:lnTo>
                  <a:pt x="82302" y="71247"/>
                </a:lnTo>
                <a:lnTo>
                  <a:pt x="41151" y="94996"/>
                </a:lnTo>
                <a:lnTo>
                  <a:pt x="0" y="71247"/>
                </a:lnTo>
                <a:lnTo>
                  <a:pt x="0" y="23749"/>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dea-logo-3"/>
          <p:cNvSpPr/>
          <p:nvPr/>
        </p:nvSpPr>
        <p:spPr>
          <a:xfrm>
            <a:off x="8444671" y="4732401"/>
            <a:ext cx="82302" cy="94996"/>
          </a:xfrm>
          <a:custGeom>
            <a:avLst/>
            <a:gdLst/>
            <a:ahLst/>
            <a:cxnLst/>
            <a:rect l="l" t="t" r="r" b="b"/>
            <a:pathLst>
              <a:path w="82302" h="94996">
                <a:moveTo>
                  <a:pt x="41151" y="0"/>
                </a:moveTo>
                <a:lnTo>
                  <a:pt x="82302" y="23749"/>
                </a:lnTo>
                <a:lnTo>
                  <a:pt x="82302" y="71247"/>
                </a:lnTo>
                <a:lnTo>
                  <a:pt x="41151" y="94996"/>
                </a:lnTo>
                <a:lnTo>
                  <a:pt x="0" y="71247"/>
                </a:lnTo>
                <a:lnTo>
                  <a:pt x="0" y="23749"/>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dea-logo-4"/>
          <p:cNvSpPr/>
          <p:nvPr/>
        </p:nvSpPr>
        <p:spPr>
          <a:xfrm>
            <a:off x="8541826" y="4900803"/>
            <a:ext cx="82302" cy="94996"/>
          </a:xfrm>
          <a:custGeom>
            <a:avLst/>
            <a:gdLst/>
            <a:ahLst/>
            <a:cxnLst/>
            <a:rect l="l" t="t" r="r" b="b"/>
            <a:pathLst>
              <a:path w="82302" h="94996">
                <a:moveTo>
                  <a:pt x="41151" y="0"/>
                </a:moveTo>
                <a:lnTo>
                  <a:pt x="82302" y="23749"/>
                </a:lnTo>
                <a:lnTo>
                  <a:pt x="82302" y="71247"/>
                </a:lnTo>
                <a:lnTo>
                  <a:pt x="41151" y="94996"/>
                </a:lnTo>
                <a:lnTo>
                  <a:pt x="0" y="71247"/>
                </a:lnTo>
                <a:lnTo>
                  <a:pt x="0" y="23749"/>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dea-logo-5"/>
          <p:cNvSpPr/>
          <p:nvPr/>
        </p:nvSpPr>
        <p:spPr>
          <a:xfrm>
            <a:off x="8444671" y="4900803"/>
            <a:ext cx="82302" cy="94996"/>
          </a:xfrm>
          <a:custGeom>
            <a:avLst/>
            <a:gdLst/>
            <a:ahLst/>
            <a:cxnLst/>
            <a:rect l="l" t="t" r="r" b="b"/>
            <a:pathLst>
              <a:path w="82302" h="94996">
                <a:moveTo>
                  <a:pt x="41151" y="0"/>
                </a:moveTo>
                <a:lnTo>
                  <a:pt x="82302" y="23749"/>
                </a:lnTo>
                <a:lnTo>
                  <a:pt x="82302" y="71247"/>
                </a:lnTo>
                <a:lnTo>
                  <a:pt x="41151" y="94996"/>
                </a:lnTo>
                <a:lnTo>
                  <a:pt x="0" y="71247"/>
                </a:lnTo>
                <a:lnTo>
                  <a:pt x="0" y="23749"/>
                </a:lnTo>
                <a:close/>
              </a:path>
            </a:pathLst>
          </a:cu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dea-logo-6"/>
          <p:cNvSpPr/>
          <p:nvPr/>
        </p:nvSpPr>
        <p:spPr>
          <a:xfrm>
            <a:off x="8493249" y="4816602"/>
            <a:ext cx="82301" cy="94996"/>
          </a:xfrm>
          <a:custGeom>
            <a:avLst/>
            <a:gdLst/>
            <a:ahLst/>
            <a:cxnLst/>
            <a:rect l="l" t="t" r="r" b="b"/>
            <a:pathLst>
              <a:path w="82301" h="94996">
                <a:moveTo>
                  <a:pt x="41151" y="0"/>
                </a:moveTo>
                <a:lnTo>
                  <a:pt x="82301" y="23749"/>
                </a:lnTo>
                <a:lnTo>
                  <a:pt x="82301" y="71247"/>
                </a:lnTo>
                <a:lnTo>
                  <a:pt x="41151" y="94996"/>
                </a:lnTo>
                <a:lnTo>
                  <a:pt x="0" y="71247"/>
                </a:lnTo>
                <a:lnTo>
                  <a:pt x="0" y="23749"/>
                </a:lnTo>
                <a:close/>
              </a:path>
            </a:pathLst>
          </a:cu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mg-idee" descr="idee.jpg"/>
          <p:cNvPicPr>
            <a:picLocks noChangeAspect="1"/>
          </p:cNvPicPr>
          <p:nvPr/>
        </p:nvPicPr>
        <p:blipFill>
          <a:blip r:embed="rId3"/>
          <a:stretch>
            <a:fillRect/>
          </a:stretch>
        </p:blipFill>
        <p:spPr>
          <a:xfrm>
            <a:off x="0" y="0"/>
            <a:ext cx="9144000" cy="3429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Eine App, vier Bausteine</a:t>
            </a:r>
            <a:endParaRPr lang="en-US" sz="3000" dirty="0"/>
          </a:p>
        </p:txBody>
      </p:sp>
      <p:sp>
        <p:nvSpPr>
          <p:cNvPr id="3" name="block-0"/>
          <p:cNvSpPr/>
          <p:nvPr/>
        </p:nvSpPr>
        <p:spPr>
          <a:xfrm>
            <a:off x="457200" y="1188720"/>
            <a:ext cx="1920240" cy="3246120"/>
          </a:xfrm>
          <a:prstGeom prst="rect">
            <a:avLst/>
          </a:prstGeom>
          <a:solidFill>
            <a:schemeClr val="bg1"/>
          </a:solidFill>
          <a:ln w="9525">
            <a:solidFill>
              <a:schemeClr val="accent6"/>
            </a:solidFill>
            <a:prstDash val="solid"/>
          </a:ln>
        </p:spPr>
      </p:sp>
      <p:pic>
        <p:nvPicPr>
          <p:cNvPr id="4" name="b-icon-0" descr="preencoded.png">    </p:cNvPr>
          <p:cNvPicPr>
            <a:picLocks noChangeAspect="1"/>
          </p:cNvPicPr>
          <p:nvPr/>
        </p:nvPicPr>
        <p:blipFill>
          <a:blip r:embed="rId1"/>
          <a:stretch>
            <a:fillRect/>
          </a:stretch>
        </p:blipFill>
        <p:spPr>
          <a:xfrm>
            <a:off x="685800" y="1417320"/>
            <a:ext cx="502920" cy="502920"/>
          </a:xfrm>
          <a:prstGeom prst="rect">
            <a:avLst/>
          </a:prstGeom>
        </p:spPr>
      </p:pic>
      <p:sp>
        <p:nvSpPr>
          <p:cNvPr id="5" name="b-h-0"/>
          <p:cNvSpPr txBox="1"/>
          <p:nvPr/>
        </p:nvSpPr>
        <p:spPr>
          <a:xfrm>
            <a:off x="685800" y="210312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Anliegen</a:t>
            </a:r>
            <a:endParaRPr lang="en-US" sz="1800" dirty="0"/>
          </a:p>
        </p:txBody>
      </p:sp>
      <p:sp>
        <p:nvSpPr>
          <p:cNvPr id="6" name="b-t-0"/>
          <p:cNvSpPr txBox="1"/>
          <p:nvPr/>
        </p:nvSpPr>
        <p:spPr>
          <a:xfrm>
            <a:off x="685800" y="2560320"/>
            <a:ext cx="1554480" cy="1737360"/>
          </a:xfrm>
          <a:prstGeom prst="rect">
            <a:avLst/>
          </a:prstGeom>
          <a:noFill/>
          <a:ln/>
        </p:spPr>
        <p:txBody>
          <a:bodyPr wrap="square" lIns="0" tIns="0" rIns="0" bIns="0" rtlCol="0" anchor="t"/>
          <a:lstStyle/>
          <a:p>
            <a:pPr indent="0" marL="0">
              <a:buNone/>
            </a:pPr>
            <a:r>
              <a:rPr lang="en-US" sz="1200" dirty="0">
                <a:solidFill>
                  <a:schemeClr val="tx2"/>
                </a:solidFill>
              </a:rPr>
              <a:t>Biete und suche in einem Formular: Hilfe, Jobs, Wohnen, Dinge, Mitfahrt, Kurse. Tausch legt beides an.</a:t>
            </a:r>
            <a:endParaRPr lang="en-US" sz="1200" dirty="0"/>
          </a:p>
        </p:txBody>
      </p:sp>
      <p:sp>
        <p:nvSpPr>
          <p:cNvPr id="7" name="block-1"/>
          <p:cNvSpPr/>
          <p:nvPr/>
        </p:nvSpPr>
        <p:spPr>
          <a:xfrm>
            <a:off x="2560320" y="1188720"/>
            <a:ext cx="1920240" cy="3246120"/>
          </a:xfrm>
          <a:prstGeom prst="rect">
            <a:avLst/>
          </a:prstGeom>
          <a:solidFill>
            <a:schemeClr val="bg1"/>
          </a:solidFill>
          <a:ln w="9525">
            <a:solidFill>
              <a:schemeClr val="accent6"/>
            </a:solidFill>
            <a:prstDash val="solid"/>
          </a:ln>
        </p:spPr>
      </p:sp>
      <p:pic>
        <p:nvPicPr>
          <p:cNvPr id="8" name="b-icon-1" descr="preencoded.png">    </p:cNvPr>
          <p:cNvPicPr>
            <a:picLocks noChangeAspect="1"/>
          </p:cNvPicPr>
          <p:nvPr/>
        </p:nvPicPr>
        <p:blipFill>
          <a:blip r:embed="rId2"/>
          <a:stretch>
            <a:fillRect/>
          </a:stretch>
        </p:blipFill>
        <p:spPr>
          <a:xfrm>
            <a:off x="2788920" y="1417320"/>
            <a:ext cx="502920" cy="502920"/>
          </a:xfrm>
          <a:prstGeom prst="rect">
            <a:avLst/>
          </a:prstGeom>
        </p:spPr>
      </p:pic>
      <p:sp>
        <p:nvSpPr>
          <p:cNvPr id="9" name="b-h-1"/>
          <p:cNvSpPr txBox="1"/>
          <p:nvPr/>
        </p:nvSpPr>
        <p:spPr>
          <a:xfrm>
            <a:off x="2788920" y="210312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Gruppen</a:t>
            </a:r>
            <a:endParaRPr lang="en-US" sz="1800" dirty="0"/>
          </a:p>
        </p:txBody>
      </p:sp>
      <p:sp>
        <p:nvSpPr>
          <p:cNvPr id="10" name="b-t-1"/>
          <p:cNvSpPr txBox="1"/>
          <p:nvPr/>
        </p:nvSpPr>
        <p:spPr>
          <a:xfrm>
            <a:off x="2788920" y="2560320"/>
            <a:ext cx="1554480" cy="1737360"/>
          </a:xfrm>
          <a:prstGeom prst="rect">
            <a:avLst/>
          </a:prstGeom>
          <a:noFill/>
          <a:ln/>
        </p:spPr>
        <p:txBody>
          <a:bodyPr wrap="square" lIns="0" tIns="0" rIns="0" bIns="0" rtlCol="0" anchor="t"/>
          <a:lstStyle/>
          <a:p>
            <a:pPr indent="0" marL="0">
              <a:buNone/>
            </a:pPr>
            <a:r>
              <a:rPr lang="en-US" sz="1200" dirty="0">
                <a:solidFill>
                  <a:schemeClr val="tx2"/>
                </a:solidFill>
              </a:rPr>
              <a:t>Ziele mit Abstimmung, Aufgaben, Dokumente, Sammlung und Untergruppen. Vorlagen für zehn Gemeinschaften.</a:t>
            </a:r>
            <a:endParaRPr lang="en-US" sz="1200" dirty="0"/>
          </a:p>
        </p:txBody>
      </p:sp>
      <p:sp>
        <p:nvSpPr>
          <p:cNvPr id="11" name="block-2"/>
          <p:cNvSpPr/>
          <p:nvPr/>
        </p:nvSpPr>
        <p:spPr>
          <a:xfrm>
            <a:off x="4663440" y="1188720"/>
            <a:ext cx="1920240" cy="3246120"/>
          </a:xfrm>
          <a:prstGeom prst="rect">
            <a:avLst/>
          </a:prstGeom>
          <a:solidFill>
            <a:schemeClr val="bg1"/>
          </a:solidFill>
          <a:ln w="9525">
            <a:solidFill>
              <a:schemeClr val="accent6"/>
            </a:solidFill>
            <a:prstDash val="solid"/>
          </a:ln>
        </p:spPr>
      </p:sp>
      <p:pic>
        <p:nvPicPr>
          <p:cNvPr id="12" name="b-icon-2" descr="preencoded.png">    </p:cNvPr>
          <p:cNvPicPr>
            <a:picLocks noChangeAspect="1"/>
          </p:cNvPicPr>
          <p:nvPr/>
        </p:nvPicPr>
        <p:blipFill>
          <a:blip r:embed="rId3"/>
          <a:stretch>
            <a:fillRect/>
          </a:stretch>
        </p:blipFill>
        <p:spPr>
          <a:xfrm>
            <a:off x="4892040" y="1417320"/>
            <a:ext cx="502920" cy="502920"/>
          </a:xfrm>
          <a:prstGeom prst="rect">
            <a:avLst/>
          </a:prstGeom>
        </p:spPr>
      </p:pic>
      <p:sp>
        <p:nvSpPr>
          <p:cNvPr id="13" name="b-h-2"/>
          <p:cNvSpPr txBox="1"/>
          <p:nvPr/>
        </p:nvSpPr>
        <p:spPr>
          <a:xfrm>
            <a:off x="4892040" y="210312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Initiativen</a:t>
            </a:r>
            <a:endParaRPr lang="en-US" sz="1800" dirty="0"/>
          </a:p>
        </p:txBody>
      </p:sp>
      <p:sp>
        <p:nvSpPr>
          <p:cNvPr id="14" name="b-t-2"/>
          <p:cNvSpPr txBox="1"/>
          <p:nvPr/>
        </p:nvSpPr>
        <p:spPr>
          <a:xfrm>
            <a:off x="4892040" y="2560320"/>
            <a:ext cx="1554480" cy="1737360"/>
          </a:xfrm>
          <a:prstGeom prst="rect">
            <a:avLst/>
          </a:prstGeom>
          <a:noFill/>
          <a:ln/>
        </p:spPr>
        <p:txBody>
          <a:bodyPr wrap="square" lIns="0" tIns="0" rIns="0" bIns="0" rtlCol="0" anchor="t"/>
          <a:lstStyle/>
          <a:p>
            <a:pPr indent="0" marL="0">
              <a:buNone/>
            </a:pPr>
            <a:r>
              <a:rPr lang="en-US" sz="1200" dirty="0">
                <a:solidFill>
                  <a:schemeClr val="tx2"/>
                </a:solidFill>
              </a:rPr>
              <a:t>Eine Forderung an die zuständige Stelle: Debatte, geheime Abstimmung, sechs Wochen Antwortfrist.</a:t>
            </a:r>
            <a:endParaRPr lang="en-US" sz="1200" dirty="0"/>
          </a:p>
        </p:txBody>
      </p:sp>
      <p:sp>
        <p:nvSpPr>
          <p:cNvPr id="15" name="block-3"/>
          <p:cNvSpPr/>
          <p:nvPr/>
        </p:nvSpPr>
        <p:spPr>
          <a:xfrm>
            <a:off x="6766560" y="1188720"/>
            <a:ext cx="1920240" cy="3246120"/>
          </a:xfrm>
          <a:prstGeom prst="rect">
            <a:avLst/>
          </a:prstGeom>
          <a:solidFill>
            <a:schemeClr val="bg1"/>
          </a:solidFill>
          <a:ln w="9525">
            <a:solidFill>
              <a:schemeClr val="accent6"/>
            </a:solidFill>
            <a:prstDash val="solid"/>
          </a:ln>
        </p:spPr>
      </p:sp>
      <p:pic>
        <p:nvPicPr>
          <p:cNvPr id="16" name="b-icon-3" descr="preencoded.png">    </p:cNvPr>
          <p:cNvPicPr>
            <a:picLocks noChangeAspect="1"/>
          </p:cNvPicPr>
          <p:nvPr/>
        </p:nvPicPr>
        <p:blipFill>
          <a:blip r:embed="rId4"/>
          <a:stretch>
            <a:fillRect/>
          </a:stretch>
        </p:blipFill>
        <p:spPr>
          <a:xfrm>
            <a:off x="6995160" y="1417320"/>
            <a:ext cx="502920" cy="502920"/>
          </a:xfrm>
          <a:prstGeom prst="rect">
            <a:avLst/>
          </a:prstGeom>
        </p:spPr>
      </p:pic>
      <p:sp>
        <p:nvSpPr>
          <p:cNvPr id="17" name="b-h-3"/>
          <p:cNvSpPr txBox="1"/>
          <p:nvPr/>
        </p:nvSpPr>
        <p:spPr>
          <a:xfrm>
            <a:off x="6995160" y="2103120"/>
            <a:ext cx="1554480" cy="411480"/>
          </a:xfrm>
          <a:prstGeom prst="rect">
            <a:avLst/>
          </a:prstGeom>
          <a:noFill/>
          <a:ln/>
        </p:spPr>
        <p:txBody>
          <a:bodyPr wrap="square" lIns="0" tIns="0" rIns="0" bIns="0" rtlCol="0" anchor="ctr"/>
          <a:lstStyle/>
          <a:p>
            <a:pPr indent="0" marL="0">
              <a:buNone/>
            </a:pPr>
            <a:r>
              <a:rPr lang="en-US" sz="1800" b="1" dirty="0">
                <a:solidFill>
                  <a:schemeClr val="tx1"/>
                </a:solidFill>
              </a:rPr>
              <a:t>Verbinden</a:t>
            </a:r>
            <a:endParaRPr lang="en-US" sz="1800" dirty="0"/>
          </a:p>
        </p:txBody>
      </p:sp>
      <p:sp>
        <p:nvSpPr>
          <p:cNvPr id="18" name="b-t-3"/>
          <p:cNvSpPr txBox="1"/>
          <p:nvPr/>
        </p:nvSpPr>
        <p:spPr>
          <a:xfrm>
            <a:off x="6995160" y="2560320"/>
            <a:ext cx="1554480" cy="1737360"/>
          </a:xfrm>
          <a:prstGeom prst="rect">
            <a:avLst/>
          </a:prstGeom>
          <a:noFill/>
          <a:ln/>
        </p:spPr>
        <p:txBody>
          <a:bodyPr wrap="square" lIns="0" tIns="0" rIns="0" bIns="0" rtlCol="0" anchor="t"/>
          <a:lstStyle/>
          <a:p>
            <a:pPr indent="0" marL="0">
              <a:buNone/>
            </a:pPr>
            <a:r>
              <a:rPr lang="en-US" sz="1200" dirty="0">
                <a:solidFill>
                  <a:schemeClr val="tx2"/>
                </a:solidFill>
              </a:rPr>
              <a:t>Chats und Marktplatz des Ortes. Alles lässt sich als Karte weitergeben, mit getrennten Lese- und Schreibrechten.</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Biete und suche finden sich, mit Begründung</a:t>
            </a:r>
            <a:endParaRPr lang="en-US" sz="3000" dirty="0"/>
          </a:p>
        </p:txBody>
      </p:sp>
      <p:sp>
        <p:nvSpPr>
          <p:cNvPr id="3" name="offer-card"/>
          <p:cNvSpPr/>
          <p:nvPr/>
        </p:nvSpPr>
        <p:spPr>
          <a:xfrm>
            <a:off x="457200" y="1280160"/>
            <a:ext cx="2651760" cy="1463040"/>
          </a:xfrm>
          <a:prstGeom prst="rect">
            <a:avLst/>
          </a:prstGeom>
          <a:solidFill>
            <a:schemeClr val="bg1"/>
          </a:solidFill>
          <a:ln w="9525">
            <a:solidFill>
              <a:schemeClr val="accent6"/>
            </a:solidFill>
            <a:prstDash val="solid"/>
          </a:ln>
        </p:spPr>
      </p:sp>
      <p:sp>
        <p:nvSpPr>
          <p:cNvPr id="4" name="offer-t"/>
          <p:cNvSpPr txBox="1"/>
          <p:nvPr/>
        </p:nvSpPr>
        <p:spPr>
          <a:xfrm>
            <a:off x="640080" y="1417320"/>
            <a:ext cx="2286000" cy="1188720"/>
          </a:xfrm>
          <a:prstGeom prst="rect">
            <a:avLst/>
          </a:prstGeom>
          <a:noFill/>
          <a:ln/>
        </p:spPr>
        <p:txBody>
          <a:bodyPr wrap="square" lIns="0" tIns="0" rIns="0" bIns="0" rtlCol="0" anchor="t"/>
          <a:lstStyle/>
          <a:p>
            <a:pPr indent="0" marL="0">
              <a:buNone/>
            </a:pPr>
            <a:r>
              <a:rPr lang="en-US" sz="1100" b="1" dirty="0">
                <a:solidFill>
                  <a:schemeClr val="accent1"/>
                </a:solidFill>
              </a:rPr>
              <a:t>ANGEBOT</a:t>
            </a:r>
            <a:endParaRPr lang="en-US" sz="1100" dirty="0"/>
          </a:p>
          <a:p>
            <a:pPr indent="0" marL="0">
              <a:buNone/>
            </a:pPr>
            <a:r>
              <a:rPr lang="en-US" sz="1600" b="1" dirty="0">
                <a:solidFill>
                  <a:schemeClr val="tx1"/>
                </a:solidFill>
              </a:rPr>
              <a:t>3D-Modellierung in Blender</a:t>
            </a:r>
            <a:endParaRPr lang="en-US" sz="1100" dirty="0"/>
          </a:p>
          <a:p>
            <a:pPr indent="0" marL="0">
              <a:buNone/>
            </a:pPr>
            <a:r>
              <a:rPr lang="en-US" sz="1200" dirty="0">
                <a:solidFill>
                  <a:schemeClr val="tx2"/>
                </a:solidFill>
              </a:rPr>
              <a:t>Felix · München · kostenlos</a:t>
            </a:r>
            <a:endParaRPr lang="en-US" sz="1100" dirty="0"/>
          </a:p>
        </p:txBody>
      </p:sp>
      <p:sp>
        <p:nvSpPr>
          <p:cNvPr id="5" name="need-card"/>
          <p:cNvSpPr/>
          <p:nvPr/>
        </p:nvSpPr>
        <p:spPr>
          <a:xfrm>
            <a:off x="6035040" y="1280160"/>
            <a:ext cx="2651760" cy="1463040"/>
          </a:xfrm>
          <a:prstGeom prst="rect">
            <a:avLst/>
          </a:prstGeom>
          <a:solidFill>
            <a:schemeClr val="bg1"/>
          </a:solidFill>
          <a:ln w="9525">
            <a:solidFill>
              <a:schemeClr val="accent6"/>
            </a:solidFill>
            <a:prstDash val="solid"/>
          </a:ln>
        </p:spPr>
      </p:sp>
      <p:sp>
        <p:nvSpPr>
          <p:cNvPr id="6" name="need-t"/>
          <p:cNvSpPr txBox="1"/>
          <p:nvPr/>
        </p:nvSpPr>
        <p:spPr>
          <a:xfrm>
            <a:off x="6217920" y="1417320"/>
            <a:ext cx="2286000" cy="1188720"/>
          </a:xfrm>
          <a:prstGeom prst="rect">
            <a:avLst/>
          </a:prstGeom>
          <a:noFill/>
          <a:ln/>
        </p:spPr>
        <p:txBody>
          <a:bodyPr wrap="square" lIns="0" tIns="0" rIns="0" bIns="0" rtlCol="0" anchor="t"/>
          <a:lstStyle/>
          <a:p>
            <a:pPr indent="0" marL="0">
              <a:buNone/>
            </a:pPr>
            <a:r>
              <a:rPr lang="en-US" sz="1100" b="1" dirty="0">
                <a:solidFill>
                  <a:schemeClr val="accent1"/>
                </a:solidFill>
              </a:rPr>
              <a:t>GESUCH</a:t>
            </a:r>
            <a:endParaRPr lang="en-US" sz="1100" dirty="0"/>
          </a:p>
          <a:p>
            <a:pPr indent="0" marL="0">
              <a:buNone/>
            </a:pPr>
            <a:r>
              <a:rPr lang="en-US" sz="1600" b="1" dirty="0">
                <a:solidFill>
                  <a:schemeClr val="tx1"/>
                </a:solidFill>
              </a:rPr>
              <a:t>Auer Mühlbach in Blender modellieren</a:t>
            </a:r>
            <a:endParaRPr lang="en-US" sz="1100" dirty="0"/>
          </a:p>
          <a:p>
            <a:pPr indent="0" marL="0">
              <a:buNone/>
            </a:pPr>
            <a:r>
              <a:rPr lang="en-US" sz="1200" dirty="0">
                <a:solidFill>
                  <a:schemeClr val="tx2"/>
                </a:solidFill>
              </a:rPr>
              <a:t>Kurzfilm-Gruppe · Sendling</a:t>
            </a:r>
            <a:endParaRPr lang="en-US" sz="1100" dirty="0"/>
          </a:p>
        </p:txBody>
      </p:sp>
      <p:sp>
        <p:nvSpPr>
          <p:cNvPr id="7" name="match-arrow"/>
          <p:cNvSpPr/>
          <p:nvPr/>
        </p:nvSpPr>
        <p:spPr>
          <a:xfrm>
            <a:off x="3291840" y="1783080"/>
            <a:ext cx="2560320" cy="457200"/>
          </a:xfrm>
          <a:prstGeom prst="leftRightArrow">
            <a:avLst/>
          </a:prstGeom>
          <a:solidFill>
            <a:schemeClr val="tx1"/>
          </a:solidFill>
          <a:ln w="12700">
            <a:solidFill>
              <a:schemeClr val="tx1"/>
            </a:solidFill>
            <a:prstDash val="solid"/>
          </a:ln>
        </p:spPr>
      </p:sp>
      <p:sp>
        <p:nvSpPr>
          <p:cNvPr id="8" name="r-0"/>
          <p:cNvSpPr/>
          <p:nvPr/>
        </p:nvSpPr>
        <p:spPr>
          <a:xfrm>
            <a:off x="457200" y="3063240"/>
            <a:ext cx="2651760" cy="411480"/>
          </a:xfrm>
          <a:prstGeom prst="rect">
            <a:avLst/>
          </a:prstGeom>
          <a:solidFill>
            <a:schemeClr val="accent4"/>
          </a:solidFill>
          <a:ln w="12700">
            <a:solidFill>
              <a:schemeClr val="accent4"/>
            </a:solidFill>
            <a:prstDash val="solid"/>
          </a:ln>
        </p:spPr>
      </p:sp>
      <p:sp>
        <p:nvSpPr>
          <p:cNvPr id="9" name="r-t-0"/>
          <p:cNvSpPr txBox="1"/>
          <p:nvPr/>
        </p:nvSpPr>
        <p:spPr>
          <a:xfrm>
            <a:off x="457200" y="3063240"/>
            <a:ext cx="2651760" cy="411480"/>
          </a:xfrm>
          <a:prstGeom prst="rect">
            <a:avLst/>
          </a:prstGeom>
          <a:noFill/>
          <a:ln/>
        </p:spPr>
        <p:txBody>
          <a:bodyPr wrap="square" lIns="0" tIns="0" rIns="0" bIns="0" rtlCol="0" anchor="ctr"/>
          <a:lstStyle/>
          <a:p>
            <a:pPr algn="ctr" indent="0" marL="0">
              <a:buNone/>
            </a:pPr>
            <a:r>
              <a:rPr lang="en-US" sz="1300" dirty="0">
                <a:solidFill>
                  <a:schemeClr val="tx1"/>
                </a:solidFill>
              </a:rPr>
              <a:t>#blender</a:t>
            </a:r>
            <a:endParaRPr lang="en-US" sz="1300" dirty="0"/>
          </a:p>
        </p:txBody>
      </p:sp>
      <p:sp>
        <p:nvSpPr>
          <p:cNvPr id="10" name="r-1"/>
          <p:cNvSpPr/>
          <p:nvPr/>
        </p:nvSpPr>
        <p:spPr>
          <a:xfrm>
            <a:off x="3246120" y="3063240"/>
            <a:ext cx="2651760" cy="411480"/>
          </a:xfrm>
          <a:prstGeom prst="rect">
            <a:avLst/>
          </a:prstGeom>
          <a:solidFill>
            <a:schemeClr val="accent4"/>
          </a:solidFill>
          <a:ln w="12700">
            <a:solidFill>
              <a:schemeClr val="accent4"/>
            </a:solidFill>
            <a:prstDash val="solid"/>
          </a:ln>
        </p:spPr>
      </p:sp>
      <p:sp>
        <p:nvSpPr>
          <p:cNvPr id="11" name="r-t-1"/>
          <p:cNvSpPr txBox="1"/>
          <p:nvPr/>
        </p:nvSpPr>
        <p:spPr>
          <a:xfrm>
            <a:off x="3246120" y="3063240"/>
            <a:ext cx="2651760" cy="411480"/>
          </a:xfrm>
          <a:prstGeom prst="rect">
            <a:avLst/>
          </a:prstGeom>
          <a:noFill/>
          <a:ln/>
        </p:spPr>
        <p:txBody>
          <a:bodyPr wrap="square" lIns="0" tIns="0" rIns="0" bIns="0" rtlCol="0" anchor="ctr"/>
          <a:lstStyle/>
          <a:p>
            <a:pPr algn="ctr" indent="0" marL="0">
              <a:buNone/>
            </a:pPr>
            <a:r>
              <a:rPr lang="en-US" sz="1300" dirty="0">
                <a:solidFill>
                  <a:schemeClr val="tx1"/>
                </a:solidFill>
              </a:rPr>
              <a:t>ähnliche Worte</a:t>
            </a:r>
            <a:endParaRPr lang="en-US" sz="1300" dirty="0"/>
          </a:p>
        </p:txBody>
      </p:sp>
      <p:sp>
        <p:nvSpPr>
          <p:cNvPr id="12" name="r-2"/>
          <p:cNvSpPr/>
          <p:nvPr/>
        </p:nvSpPr>
        <p:spPr>
          <a:xfrm>
            <a:off x="6035040" y="3063240"/>
            <a:ext cx="2651760" cy="411480"/>
          </a:xfrm>
          <a:prstGeom prst="rect">
            <a:avLst/>
          </a:prstGeom>
          <a:solidFill>
            <a:schemeClr val="accent4"/>
          </a:solidFill>
          <a:ln w="12700">
            <a:solidFill>
              <a:schemeClr val="accent4"/>
            </a:solidFill>
            <a:prstDash val="solid"/>
          </a:ln>
        </p:spPr>
      </p:sp>
      <p:sp>
        <p:nvSpPr>
          <p:cNvPr id="13" name="r-t-2"/>
          <p:cNvSpPr txBox="1"/>
          <p:nvPr/>
        </p:nvSpPr>
        <p:spPr>
          <a:xfrm>
            <a:off x="6035040" y="3063240"/>
            <a:ext cx="2651760" cy="411480"/>
          </a:xfrm>
          <a:prstGeom prst="rect">
            <a:avLst/>
          </a:prstGeom>
          <a:noFill/>
          <a:ln/>
        </p:spPr>
        <p:txBody>
          <a:bodyPr wrap="square" lIns="0" tIns="0" rIns="0" bIns="0" rtlCol="0" anchor="ctr"/>
          <a:lstStyle/>
          <a:p>
            <a:pPr algn="ctr" indent="0" marL="0">
              <a:buNone/>
            </a:pPr>
            <a:r>
              <a:rPr lang="en-US" sz="1300" dirty="0">
                <a:solidFill>
                  <a:schemeClr val="tx1"/>
                </a:solidFill>
              </a:rPr>
              <a:t>gleiche Kategorie</a:t>
            </a:r>
            <a:endParaRPr lang="en-US" sz="1300" dirty="0"/>
          </a:p>
        </p:txBody>
      </p:sp>
      <p:sp>
        <p:nvSpPr>
          <p:cNvPr id="14" name="r-3"/>
          <p:cNvSpPr/>
          <p:nvPr/>
        </p:nvSpPr>
        <p:spPr>
          <a:xfrm>
            <a:off x="457200" y="3611880"/>
            <a:ext cx="2651760" cy="411480"/>
          </a:xfrm>
          <a:prstGeom prst="rect">
            <a:avLst/>
          </a:prstGeom>
          <a:solidFill>
            <a:schemeClr val="accent4"/>
          </a:solidFill>
          <a:ln w="12700">
            <a:solidFill>
              <a:schemeClr val="accent4"/>
            </a:solidFill>
            <a:prstDash val="solid"/>
          </a:ln>
        </p:spPr>
      </p:sp>
      <p:sp>
        <p:nvSpPr>
          <p:cNvPr id="15" name="r-t-3"/>
          <p:cNvSpPr txBox="1"/>
          <p:nvPr/>
        </p:nvSpPr>
        <p:spPr>
          <a:xfrm>
            <a:off x="457200" y="3611880"/>
            <a:ext cx="2651760" cy="411480"/>
          </a:xfrm>
          <a:prstGeom prst="rect">
            <a:avLst/>
          </a:prstGeom>
          <a:noFill/>
          <a:ln/>
        </p:spPr>
        <p:txBody>
          <a:bodyPr wrap="square" lIns="0" tIns="0" rIns="0" bIns="0" rtlCol="0" anchor="ctr"/>
          <a:lstStyle/>
          <a:p>
            <a:pPr algn="ctr" indent="0" marL="0">
              <a:buNone/>
            </a:pPr>
            <a:r>
              <a:rPr lang="en-US" sz="1300" dirty="0">
                <a:solidFill>
                  <a:schemeClr val="tx1"/>
                </a:solidFill>
              </a:rPr>
              <a:t>am selben Ort</a:t>
            </a:r>
            <a:endParaRPr lang="en-US" sz="1300" dirty="0"/>
          </a:p>
        </p:txBody>
      </p:sp>
      <p:sp>
        <p:nvSpPr>
          <p:cNvPr id="16" name="r-4"/>
          <p:cNvSpPr/>
          <p:nvPr/>
        </p:nvSpPr>
        <p:spPr>
          <a:xfrm>
            <a:off x="3246120" y="3611880"/>
            <a:ext cx="2651760" cy="411480"/>
          </a:xfrm>
          <a:prstGeom prst="rect">
            <a:avLst/>
          </a:prstGeom>
          <a:solidFill>
            <a:schemeClr val="accent4"/>
          </a:solidFill>
          <a:ln w="12700">
            <a:solidFill>
              <a:schemeClr val="accent4"/>
            </a:solidFill>
            <a:prstDash val="solid"/>
          </a:ln>
        </p:spPr>
      </p:sp>
      <p:sp>
        <p:nvSpPr>
          <p:cNvPr id="17" name="r-t-4"/>
          <p:cNvSpPr txBox="1"/>
          <p:nvPr/>
        </p:nvSpPr>
        <p:spPr>
          <a:xfrm>
            <a:off x="3246120" y="3611880"/>
            <a:ext cx="2651760" cy="411480"/>
          </a:xfrm>
          <a:prstGeom prst="rect">
            <a:avLst/>
          </a:prstGeom>
          <a:noFill/>
          <a:ln/>
        </p:spPr>
        <p:txBody>
          <a:bodyPr wrap="square" lIns="0" tIns="0" rIns="0" bIns="0" rtlCol="0" anchor="ctr"/>
          <a:lstStyle/>
          <a:p>
            <a:pPr algn="ctr" indent="0" marL="0">
              <a:buNone/>
            </a:pPr>
            <a:r>
              <a:rPr lang="en-US" sz="1300" dirty="0">
                <a:solidFill>
                  <a:schemeClr val="tx1"/>
                </a:solidFill>
              </a:rPr>
              <a:t>ähnliche Bedeutung</a:t>
            </a:r>
            <a:endParaRPr lang="en-US" sz="1300" dirty="0"/>
          </a:p>
        </p:txBody>
      </p:sp>
      <p:sp>
        <p:nvSpPr>
          <p:cNvPr id="18" name="r-5"/>
          <p:cNvSpPr/>
          <p:nvPr/>
        </p:nvSpPr>
        <p:spPr>
          <a:xfrm>
            <a:off x="6035040" y="3611880"/>
            <a:ext cx="2651760" cy="411480"/>
          </a:xfrm>
          <a:prstGeom prst="rect">
            <a:avLst/>
          </a:prstGeom>
          <a:solidFill>
            <a:schemeClr val="accent5"/>
          </a:solidFill>
          <a:ln w="12700">
            <a:solidFill>
              <a:schemeClr val="accent5"/>
            </a:solidFill>
            <a:prstDash val="solid"/>
          </a:ln>
        </p:spPr>
      </p:sp>
      <p:sp>
        <p:nvSpPr>
          <p:cNvPr id="19" name="r-t-5"/>
          <p:cNvSpPr txBox="1"/>
          <p:nvPr/>
        </p:nvSpPr>
        <p:spPr>
          <a:xfrm>
            <a:off x="6035040" y="3611880"/>
            <a:ext cx="2651760" cy="411480"/>
          </a:xfrm>
          <a:prstGeom prst="rect">
            <a:avLst/>
          </a:prstGeom>
          <a:noFill/>
          <a:ln/>
        </p:spPr>
        <p:txBody>
          <a:bodyPr wrap="square" lIns="0" tIns="0" rIns="0" bIns="0" rtlCol="0" anchor="ctr"/>
          <a:lstStyle/>
          <a:p>
            <a:pPr algn="ctr" indent="0" marL="0">
              <a:buNone/>
            </a:pPr>
            <a:r>
              <a:rPr lang="en-US" sz="1300" dirty="0">
                <a:solidFill>
                  <a:schemeClr val="tx1"/>
                </a:solidFill>
              </a:rPr>
              <a:t>Tausch in beide Richtungen</a:t>
            </a:r>
            <a:endParaRPr lang="en-US" sz="1300" dirty="0"/>
          </a:p>
        </p:txBody>
      </p:sp>
      <p:sp>
        <p:nvSpPr>
          <p:cNvPr id="20" name="match-note"/>
          <p:cNvSpPr txBox="1"/>
          <p:nvPr/>
        </p:nvSpPr>
        <p:spPr>
          <a:xfrm>
            <a:off x="457200" y="4206240"/>
            <a:ext cx="8229600" cy="411480"/>
          </a:xfrm>
          <a:prstGeom prst="rect">
            <a:avLst/>
          </a:prstGeom>
          <a:noFill/>
          <a:ln/>
        </p:spPr>
        <p:txBody>
          <a:bodyPr wrap="square" lIns="0" tIns="0" rIns="0" bIns="0" rtlCol="0" anchor="ctr"/>
          <a:lstStyle/>
          <a:p>
            <a:pPr indent="0" marL="0">
              <a:buNone/>
            </a:pPr>
            <a:r>
              <a:rPr lang="en-US" sz="1200" i="1" dirty="0">
                <a:solidFill>
                  <a:schemeClr val="tx2"/>
                </a:solidFill>
              </a:rPr>
              <a:t>Beide Seiten sehen dieselben Gründe. Gute Treffer bekommen eine Mitteilung. Die KI läuft in Supabase, kein Text verlässt die Plattform.</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6100" y="1016000"/>
            <a:ext cx="4064000" cy="1778000"/>
          </a:xfrm>
          <a:prstGeom prst="rect">
            <a:avLst/>
          </a:prstGeom>
          <a:noFill/>
          <a:ln/>
        </p:spPr>
        <p:txBody>
          <a:bodyPr wrap="square" lIns="0" tIns="0" rIns="0" bIns="0" rtlCol="0" anchor="b"/>
          <a:lstStyle/>
          <a:p>
            <a:pPr algn="l" indent="0" marL="0">
              <a:buNone/>
            </a:pPr>
            <a:r>
              <a:rPr lang="en-US" sz="4000" b="1" dirty="0">
                <a:solidFill>
                  <a:schemeClr val="bg1"/>
                </a:solidFill>
              </a:rPr>
              <a:t>Fünf Paare, die sich ergänzen</a:t>
            </a:r>
            <a:endParaRPr lang="en-US" sz="4000" dirty="0"/>
          </a:p>
        </p:txBody>
      </p:sp>
      <p:sp>
        <p:nvSpPr>
          <p:cNvPr id="3" name="Text 0"/>
          <p:cNvSpPr/>
          <p:nvPr>
            <p:ph idx="101" type="body" hasCustomPrompt="1"/>
          </p:nvPr>
        </p:nvSpPr>
        <p:spPr>
          <a:xfrm>
            <a:off x="546100" y="2946400"/>
            <a:ext cx="4064000" cy="889000"/>
          </a:xfrm>
          <a:prstGeom prst="rect">
            <a:avLst/>
          </a:prstGeom>
          <a:noFill/>
          <a:ln/>
        </p:spPr>
        <p:txBody>
          <a:bodyPr wrap="square" lIns="0" tIns="0" rIns="0" bIns="0" rtlCol="0" anchor="t"/>
          <a:lstStyle/>
          <a:p>
            <a:pPr algn="l" indent="0" marL="0">
              <a:buNone/>
            </a:pPr>
            <a:r>
              <a:rPr lang="en-US" sz="1800" dirty="0">
                <a:solidFill>
                  <a:schemeClr val="accent3"/>
                </a:solidFill>
              </a:rPr>
              <a:t>Was die eine Person sucht, bietet die andere.</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pic>
        <p:nvPicPr>
          <p:cNvPr id="26" name="!!img-paare" descr="paare.jpg"/>
          <p:cNvPicPr>
            <a:picLocks noChangeAspect="1"/>
          </p:cNvPicPr>
          <p:nvPr/>
        </p:nvPicPr>
        <p:blipFill>
          <a:blip r:embed="rId3"/>
          <a:stretch>
            <a:fillRect/>
          </a:stretch>
        </p:blipFill>
        <p:spPr>
          <a:xfrm>
            <a:off x="5029200" y="0"/>
            <a:ext cx="4114800" cy="51435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Fatma und Erika</a:t>
            </a: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
        <p:nvSpPr>
          <p:cNvPr id="26" name="!!card-a"/>
          <p:cNvSpPr/>
          <p:nvPr/>
        </p:nvSpPr>
        <p:spPr>
          <a:xfrm>
            <a:off x="4572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t-a"/>
          <p:cNvSpPr/>
          <p:nvPr/>
        </p:nvSpPr>
        <p:spPr>
          <a:xfrm>
            <a:off x="7112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a" descr="image.png"/>
          <p:cNvPicPr>
            <a:picLocks noChangeAspect="1"/>
          </p:cNvPicPr>
          <p:nvPr/>
        </p:nvPicPr>
        <p:blipFill>
          <a:blip r:embed="rId1"/>
          <a:stretch>
            <a:fillRect/>
          </a:stretch>
        </p:blipFill>
        <p:spPr>
          <a:xfrm>
            <a:off x="850900" y="1562100"/>
            <a:ext cx="355600" cy="355600"/>
          </a:xfrm>
          <a:prstGeom prst="rect">
            <a:avLst/>
          </a:prstGeom>
        </p:spPr>
      </p:pic>
      <p:sp>
        <p:nvSpPr>
          <p:cNvPr id="29" name="name-a"/>
          <p:cNvSpPr txBox="1"/>
          <p:nvPr/>
        </p:nvSpPr>
        <p:spPr>
          <a:xfrm>
            <a:off x="1524000" y="1422400"/>
            <a:ext cx="2362200" cy="635000"/>
          </a:xfrm>
          <a:prstGeom prst="rect">
            <a:avLst/>
          </a:prstGeom>
          <a:noFill/>
        </p:spPr>
        <p:txBody>
          <a:bodyPr wrap="square" anchor="ctr" lIns="0" rIns="0" tIns="0" bIns="0">
            <a:spAutoFit/>
          </a:bodyPr>
          <a:lstStyle/>
          <a:p>
            <a:r>
              <a:rPr sz="1700" b="1">
                <a:solidFill>
                  <a:schemeClr val="tx1"/>
                </a:solidFill>
              </a:rPr>
              <a:t>Fatma, 34</a:t>
            </a:r>
          </a:p>
          <a:p>
            <a:r>
              <a:rPr sz="1100" b="0">
                <a:solidFill>
                  <a:schemeClr val="tx2"/>
                </a:solidFill>
              </a:rPr>
              <a:t>alleinerziehend, Schichtdienst</a:t>
            </a:r>
          </a:p>
        </p:txBody>
      </p:sp>
      <p:sp>
        <p:nvSpPr>
          <p:cNvPr id="30" name="sucht-a"/>
          <p:cNvSpPr txBox="1"/>
          <p:nvPr/>
        </p:nvSpPr>
        <p:spPr>
          <a:xfrm>
            <a:off x="7112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Betreuung für ihren Sohn an zwei Abenden pro Woche</a:t>
            </a:r>
          </a:p>
        </p:txBody>
      </p:sp>
      <p:sp>
        <p:nvSpPr>
          <p:cNvPr id="31" name="bietet-a"/>
          <p:cNvSpPr txBox="1"/>
          <p:nvPr/>
        </p:nvSpPr>
        <p:spPr>
          <a:xfrm>
            <a:off x="7112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Sonntags Mittagessen zu dritt und Hilfe mit Handy und Online-Banking</a:t>
            </a:r>
          </a:p>
        </p:txBody>
      </p:sp>
      <p:sp>
        <p:nvSpPr>
          <p:cNvPr id="32" name="!!card-b"/>
          <p:cNvSpPr/>
          <p:nvPr/>
        </p:nvSpPr>
        <p:spPr>
          <a:xfrm>
            <a:off x="50038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t-b"/>
          <p:cNvSpPr/>
          <p:nvPr/>
        </p:nvSpPr>
        <p:spPr>
          <a:xfrm>
            <a:off x="52578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icon-b" descr="image.png"/>
          <p:cNvPicPr>
            <a:picLocks noChangeAspect="1"/>
          </p:cNvPicPr>
          <p:nvPr/>
        </p:nvPicPr>
        <p:blipFill>
          <a:blip r:embed="rId5"/>
          <a:stretch>
            <a:fillRect/>
          </a:stretch>
        </p:blipFill>
        <p:spPr>
          <a:xfrm>
            <a:off x="5397500" y="1562100"/>
            <a:ext cx="355600" cy="355600"/>
          </a:xfrm>
          <a:prstGeom prst="rect">
            <a:avLst/>
          </a:prstGeom>
        </p:spPr>
      </p:pic>
      <p:sp>
        <p:nvSpPr>
          <p:cNvPr id="35" name="name-b"/>
          <p:cNvSpPr txBox="1"/>
          <p:nvPr/>
        </p:nvSpPr>
        <p:spPr>
          <a:xfrm>
            <a:off x="6070600" y="1422400"/>
            <a:ext cx="2362200" cy="635000"/>
          </a:xfrm>
          <a:prstGeom prst="rect">
            <a:avLst/>
          </a:prstGeom>
          <a:noFill/>
        </p:spPr>
        <p:txBody>
          <a:bodyPr wrap="square" anchor="ctr" lIns="0" rIns="0" tIns="0" bIns="0">
            <a:spAutoFit/>
          </a:bodyPr>
          <a:lstStyle/>
          <a:p>
            <a:r>
              <a:rPr sz="1700" b="1">
                <a:solidFill>
                  <a:schemeClr val="tx1"/>
                </a:solidFill>
              </a:rPr>
              <a:t>Erika, 72</a:t>
            </a:r>
          </a:p>
          <a:p>
            <a:r>
              <a:rPr sz="1100" b="0">
                <a:solidFill>
                  <a:schemeClr val="tx2"/>
                </a:solidFill>
              </a:rPr>
              <a:t>Rentnerin, lebt allein</a:t>
            </a:r>
          </a:p>
        </p:txBody>
      </p:sp>
      <p:sp>
        <p:nvSpPr>
          <p:cNvPr id="36" name="sucht-b"/>
          <p:cNvSpPr txBox="1"/>
          <p:nvPr/>
        </p:nvSpPr>
        <p:spPr>
          <a:xfrm>
            <a:off x="52578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Gesellschaft und jemanden, der ihr das Smartphone erklärt</a:t>
            </a:r>
          </a:p>
        </p:txBody>
      </p:sp>
      <p:sp>
        <p:nvSpPr>
          <p:cNvPr id="37" name="bietet-b"/>
          <p:cNvSpPr txBox="1"/>
          <p:nvPr/>
        </p:nvSpPr>
        <p:spPr>
          <a:xfrm>
            <a:off x="52578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Zeit an den Abenden, Kuchen und viel Erfahrung mit Enkeln</a:t>
            </a:r>
          </a:p>
        </p:txBody>
      </p:sp>
      <p:sp>
        <p:nvSpPr>
          <p:cNvPr id="38" name="fact-bar-b"/>
          <p:cNvSpPr/>
          <p:nvPr/>
        </p:nvSpPr>
        <p:spPr>
          <a:xfrm>
            <a:off x="5257800" y="3937000"/>
            <a:ext cx="38100" cy="355600"/>
          </a:xfrm>
          <a:prstGeom prst="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act-b"/>
          <p:cNvSpPr txBox="1"/>
          <p:nvPr/>
        </p:nvSpPr>
        <p:spPr>
          <a:xfrm>
            <a:off x="5384800" y="3937000"/>
            <a:ext cx="3048000" cy="355600"/>
          </a:xfrm>
          <a:prstGeom prst="rect">
            <a:avLst/>
          </a:prstGeom>
          <a:noFill/>
        </p:spPr>
        <p:txBody>
          <a:bodyPr wrap="square" anchor="ctr" lIns="0" rIns="0" tIns="0" bIns="0">
            <a:spAutoFit/>
          </a:bodyPr>
          <a:lstStyle/>
          <a:p>
            <a:r>
              <a:rPr sz="900" b="1">
                <a:solidFill>
                  <a:srgbClr val="E2001A"/>
                </a:solidFill>
              </a:rPr>
              <a:t>DEUTSCHLAND  </a:t>
            </a:r>
            <a:r>
              <a:rPr sz="1000" b="0">
                <a:solidFill>
                  <a:schemeClr val="tx2"/>
                </a:solidFill>
              </a:rPr>
              <a:t>1 von 9 fühlt sich häufig einsam (Einsamkeitsbarometer 2024)</a:t>
            </a:r>
          </a:p>
        </p:txBody>
      </p:sp>
      <p:sp>
        <p:nvSpPr>
          <p:cNvPr id="40" name="!!match"/>
          <p:cNvSpPr/>
          <p:nvPr/>
        </p:nvSpPr>
        <p:spPr>
          <a:xfrm>
            <a:off x="4292600" y="2692400"/>
            <a:ext cx="558800" cy="330200"/>
          </a:xfrm>
          <a:prstGeom prst="leftRightArrow">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Jonas und Josef</a:t>
            </a: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
        <p:nvSpPr>
          <p:cNvPr id="26" name="!!card-a"/>
          <p:cNvSpPr/>
          <p:nvPr/>
        </p:nvSpPr>
        <p:spPr>
          <a:xfrm>
            <a:off x="4572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t-a"/>
          <p:cNvSpPr/>
          <p:nvPr/>
        </p:nvSpPr>
        <p:spPr>
          <a:xfrm>
            <a:off x="7112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a" descr="image.png"/>
          <p:cNvPicPr>
            <a:picLocks noChangeAspect="1"/>
          </p:cNvPicPr>
          <p:nvPr/>
        </p:nvPicPr>
        <p:blipFill>
          <a:blip r:embed="rId5"/>
          <a:stretch>
            <a:fillRect/>
          </a:stretch>
        </p:blipFill>
        <p:spPr>
          <a:xfrm>
            <a:off x="850900" y="1562100"/>
            <a:ext cx="355600" cy="355600"/>
          </a:xfrm>
          <a:prstGeom prst="rect">
            <a:avLst/>
          </a:prstGeom>
        </p:spPr>
      </p:pic>
      <p:sp>
        <p:nvSpPr>
          <p:cNvPr id="29" name="name-a"/>
          <p:cNvSpPr txBox="1"/>
          <p:nvPr/>
        </p:nvSpPr>
        <p:spPr>
          <a:xfrm>
            <a:off x="1524000" y="1422400"/>
            <a:ext cx="2362200" cy="635000"/>
          </a:xfrm>
          <a:prstGeom prst="rect">
            <a:avLst/>
          </a:prstGeom>
          <a:noFill/>
        </p:spPr>
        <p:txBody>
          <a:bodyPr wrap="square" anchor="ctr" lIns="0" rIns="0" tIns="0" bIns="0">
            <a:spAutoFit/>
          </a:bodyPr>
          <a:lstStyle/>
          <a:p>
            <a:r>
              <a:rPr sz="1700" b="1">
                <a:solidFill>
                  <a:schemeClr val="tx1"/>
                </a:solidFill>
              </a:rPr>
              <a:t>Jonas, 19</a:t>
            </a:r>
          </a:p>
          <a:p>
            <a:r>
              <a:rPr sz="1100" b="0">
                <a:solidFill>
                  <a:schemeClr val="tx2"/>
                </a:solidFill>
              </a:rPr>
              <a:t>Azubi, neu in München</a:t>
            </a:r>
          </a:p>
        </p:txBody>
      </p:sp>
      <p:sp>
        <p:nvSpPr>
          <p:cNvPr id="30" name="sucht-a"/>
          <p:cNvSpPr txBox="1"/>
          <p:nvPr/>
        </p:nvSpPr>
        <p:spPr>
          <a:xfrm>
            <a:off x="7112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Ein bezahlbares Zimmer nahe der Berufsschule</a:t>
            </a:r>
          </a:p>
        </p:txBody>
      </p:sp>
      <p:sp>
        <p:nvSpPr>
          <p:cNvPr id="31" name="bietet-a"/>
          <p:cNvSpPr txBox="1"/>
          <p:nvPr/>
        </p:nvSpPr>
        <p:spPr>
          <a:xfrm>
            <a:off x="7112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Einkaufen, Garten und Schneeschippen, ein paar Stunden pro Woche</a:t>
            </a:r>
          </a:p>
        </p:txBody>
      </p:sp>
      <p:sp>
        <p:nvSpPr>
          <p:cNvPr id="32" name="fact-bar-a"/>
          <p:cNvSpPr/>
          <p:nvPr/>
        </p:nvSpPr>
        <p:spPr>
          <a:xfrm>
            <a:off x="711200" y="3937000"/>
            <a:ext cx="38100" cy="355600"/>
          </a:xfrm>
          <a:prstGeom prst="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act-a"/>
          <p:cNvSpPr txBox="1"/>
          <p:nvPr/>
        </p:nvSpPr>
        <p:spPr>
          <a:xfrm>
            <a:off x="838200" y="3937000"/>
            <a:ext cx="3048000" cy="355600"/>
          </a:xfrm>
          <a:prstGeom prst="rect">
            <a:avLst/>
          </a:prstGeom>
          <a:noFill/>
        </p:spPr>
        <p:txBody>
          <a:bodyPr wrap="square" anchor="ctr" lIns="0" rIns="0" tIns="0" bIns="0">
            <a:spAutoFit/>
          </a:bodyPr>
          <a:lstStyle/>
          <a:p>
            <a:r>
              <a:rPr sz="900" b="1">
                <a:solidFill>
                  <a:srgbClr val="E2001A"/>
                </a:solidFill>
              </a:rPr>
              <a:t>MÜNCHEN  </a:t>
            </a:r>
            <a:r>
              <a:rPr sz="1000" b="0">
                <a:solidFill>
                  <a:schemeClr val="tx2"/>
                </a:solidFill>
              </a:rPr>
              <a:t>23,35 € pro m² Angebotsmiete (IfW Kiel, Q4/2025)</a:t>
            </a:r>
          </a:p>
        </p:txBody>
      </p:sp>
      <p:sp>
        <p:nvSpPr>
          <p:cNvPr id="34" name="!!card-b"/>
          <p:cNvSpPr/>
          <p:nvPr/>
        </p:nvSpPr>
        <p:spPr>
          <a:xfrm>
            <a:off x="50038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ot-b"/>
          <p:cNvSpPr/>
          <p:nvPr/>
        </p:nvSpPr>
        <p:spPr>
          <a:xfrm>
            <a:off x="52578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icon-b" descr="key.png"/>
          <p:cNvPicPr>
            <a:picLocks noChangeAspect="1"/>
          </p:cNvPicPr>
          <p:nvPr/>
        </p:nvPicPr>
        <p:blipFill>
          <a:blip r:embed="rId6"/>
          <a:stretch>
            <a:fillRect/>
          </a:stretch>
        </p:blipFill>
        <p:spPr>
          <a:xfrm>
            <a:off x="5397500" y="1562100"/>
            <a:ext cx="355600" cy="355600"/>
          </a:xfrm>
          <a:prstGeom prst="rect">
            <a:avLst/>
          </a:prstGeom>
        </p:spPr>
      </p:pic>
      <p:sp>
        <p:nvSpPr>
          <p:cNvPr id="37" name="name-b"/>
          <p:cNvSpPr txBox="1"/>
          <p:nvPr/>
        </p:nvSpPr>
        <p:spPr>
          <a:xfrm>
            <a:off x="6070600" y="1422400"/>
            <a:ext cx="2362200" cy="635000"/>
          </a:xfrm>
          <a:prstGeom prst="rect">
            <a:avLst/>
          </a:prstGeom>
          <a:noFill/>
        </p:spPr>
        <p:txBody>
          <a:bodyPr wrap="square" anchor="ctr" lIns="0" rIns="0" tIns="0" bIns="0">
            <a:spAutoFit/>
          </a:bodyPr>
          <a:lstStyle/>
          <a:p>
            <a:r>
              <a:rPr sz="1700" b="1">
                <a:solidFill>
                  <a:schemeClr val="tx1"/>
                </a:solidFill>
              </a:rPr>
              <a:t>Josef, 81</a:t>
            </a:r>
          </a:p>
          <a:p>
            <a:r>
              <a:rPr sz="1100" b="0">
                <a:solidFill>
                  <a:schemeClr val="tx2"/>
                </a:solidFill>
              </a:rPr>
              <a:t>Witwer, Haus in Pasing</a:t>
            </a:r>
          </a:p>
        </p:txBody>
      </p:sp>
      <p:sp>
        <p:nvSpPr>
          <p:cNvPr id="38" name="sucht-b"/>
          <p:cNvSpPr txBox="1"/>
          <p:nvPr/>
        </p:nvSpPr>
        <p:spPr>
          <a:xfrm>
            <a:off x="52578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Hilfe im Alltag und jemanden, der mit im Haus wohnt</a:t>
            </a:r>
          </a:p>
        </p:txBody>
      </p:sp>
      <p:sp>
        <p:nvSpPr>
          <p:cNvPr id="39" name="bietet-b"/>
          <p:cNvSpPr txBox="1"/>
          <p:nvPr/>
        </p:nvSpPr>
        <p:spPr>
          <a:xfrm>
            <a:off x="52578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Ein freies Zimmer, fast mietfrei</a:t>
            </a:r>
          </a:p>
        </p:txBody>
      </p:sp>
      <p:sp>
        <p:nvSpPr>
          <p:cNvPr id="40" name="!!match"/>
          <p:cNvSpPr/>
          <p:nvPr/>
        </p:nvSpPr>
        <p:spPr>
          <a:xfrm>
            <a:off x="4292600" y="2692400"/>
            <a:ext cx="558800" cy="330200"/>
          </a:xfrm>
          <a:prstGeom prst="leftRightArrow">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Thomas und Ahmed</a:t>
            </a: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9</a:t>
            </a:fld>
            <a:endParaRPr lang="en-US"/>
          </a:p>
        </p:txBody>
      </p:sp>
      <p:sp>
        <p:nvSpPr>
          <p:cNvPr id="26" name="!!card-a"/>
          <p:cNvSpPr/>
          <p:nvPr/>
        </p:nvSpPr>
        <p:spPr>
          <a:xfrm>
            <a:off x="4572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t-a"/>
          <p:cNvSpPr/>
          <p:nvPr/>
        </p:nvSpPr>
        <p:spPr>
          <a:xfrm>
            <a:off x="7112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a" descr="image.png"/>
          <p:cNvPicPr>
            <a:picLocks noChangeAspect="1"/>
          </p:cNvPicPr>
          <p:nvPr/>
        </p:nvPicPr>
        <p:blipFill>
          <a:blip r:embed="rId5"/>
          <a:stretch>
            <a:fillRect/>
          </a:stretch>
        </p:blipFill>
        <p:spPr>
          <a:xfrm>
            <a:off x="850900" y="1562100"/>
            <a:ext cx="355600" cy="355600"/>
          </a:xfrm>
          <a:prstGeom prst="rect">
            <a:avLst/>
          </a:prstGeom>
        </p:spPr>
      </p:pic>
      <p:sp>
        <p:nvSpPr>
          <p:cNvPr id="29" name="name-a"/>
          <p:cNvSpPr txBox="1"/>
          <p:nvPr/>
        </p:nvSpPr>
        <p:spPr>
          <a:xfrm>
            <a:off x="1524000" y="1422400"/>
            <a:ext cx="2362200" cy="635000"/>
          </a:xfrm>
          <a:prstGeom prst="rect">
            <a:avLst/>
          </a:prstGeom>
          <a:noFill/>
        </p:spPr>
        <p:txBody>
          <a:bodyPr wrap="square" anchor="ctr" lIns="0" rIns="0" tIns="0" bIns="0">
            <a:spAutoFit/>
          </a:bodyPr>
          <a:lstStyle/>
          <a:p>
            <a:r>
              <a:rPr sz="1700" b="1">
                <a:solidFill>
                  <a:schemeClr val="tx1"/>
                </a:solidFill>
              </a:rPr>
              <a:t>Thomas, 45</a:t>
            </a:r>
          </a:p>
          <a:p>
            <a:r>
              <a:rPr sz="1100" b="0">
                <a:solidFill>
                  <a:schemeClr val="tx2"/>
                </a:solidFill>
              </a:rPr>
              <a:t>Vorsitzender eines Sportvereins</a:t>
            </a:r>
          </a:p>
        </p:txBody>
      </p:sp>
      <p:sp>
        <p:nvSpPr>
          <p:cNvPr id="30" name="sucht-a"/>
          <p:cNvSpPr txBox="1"/>
          <p:nvPr/>
        </p:nvSpPr>
        <p:spPr>
          <a:xfrm>
            <a:off x="7112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Jemanden, der den Umbau des Vereinsheims fachlich einschätzt</a:t>
            </a:r>
          </a:p>
        </p:txBody>
      </p:sp>
      <p:sp>
        <p:nvSpPr>
          <p:cNvPr id="31" name="bietet-a"/>
          <p:cNvSpPr txBox="1"/>
          <p:nvPr/>
        </p:nvSpPr>
        <p:spPr>
          <a:xfrm>
            <a:off x="7112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Kontakte zu Baufirmen im Verein und ein Empfehlungsschreiben</a:t>
            </a:r>
          </a:p>
        </p:txBody>
      </p:sp>
      <p:sp>
        <p:nvSpPr>
          <p:cNvPr id="32" name="!!card-b"/>
          <p:cNvSpPr/>
          <p:nvPr/>
        </p:nvSpPr>
        <p:spPr>
          <a:xfrm>
            <a:off x="50038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t-b"/>
          <p:cNvSpPr/>
          <p:nvPr/>
        </p:nvSpPr>
        <p:spPr>
          <a:xfrm>
            <a:off x="52578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icon-b" descr="image.png"/>
          <p:cNvPicPr>
            <a:picLocks noChangeAspect="1"/>
          </p:cNvPicPr>
          <p:nvPr/>
        </p:nvPicPr>
        <p:blipFill>
          <a:blip r:embed="rId2"/>
          <a:stretch>
            <a:fillRect/>
          </a:stretch>
        </p:blipFill>
        <p:spPr>
          <a:xfrm>
            <a:off x="5397500" y="1562100"/>
            <a:ext cx="355600" cy="355600"/>
          </a:xfrm>
          <a:prstGeom prst="rect">
            <a:avLst/>
          </a:prstGeom>
        </p:spPr>
      </p:pic>
      <p:sp>
        <p:nvSpPr>
          <p:cNvPr id="35" name="name-b"/>
          <p:cNvSpPr txBox="1"/>
          <p:nvPr/>
        </p:nvSpPr>
        <p:spPr>
          <a:xfrm>
            <a:off x="6070600" y="1422400"/>
            <a:ext cx="2362200" cy="635000"/>
          </a:xfrm>
          <a:prstGeom prst="rect">
            <a:avLst/>
          </a:prstGeom>
          <a:noFill/>
        </p:spPr>
        <p:txBody>
          <a:bodyPr wrap="square" anchor="ctr" lIns="0" rIns="0" tIns="0" bIns="0">
            <a:spAutoFit/>
          </a:bodyPr>
          <a:lstStyle/>
          <a:p>
            <a:r>
              <a:rPr sz="1700" b="1">
                <a:solidFill>
                  <a:schemeClr val="tx1"/>
                </a:solidFill>
              </a:rPr>
              <a:t>Ahmed, 38</a:t>
            </a:r>
          </a:p>
          <a:p>
            <a:r>
              <a:rPr sz="1100" b="0">
                <a:solidFill>
                  <a:schemeClr val="tx2"/>
                </a:solidFill>
              </a:rPr>
              <a:t>Bauingenieur aus Syrien</a:t>
            </a:r>
          </a:p>
        </p:txBody>
      </p:sp>
      <p:sp>
        <p:nvSpPr>
          <p:cNvPr id="36" name="sucht-b"/>
          <p:cNvSpPr txBox="1"/>
          <p:nvPr/>
        </p:nvSpPr>
        <p:spPr>
          <a:xfrm>
            <a:off x="52578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Kontakte und Referenzen, solange sein Abschluss anerkannt wird</a:t>
            </a:r>
          </a:p>
        </p:txBody>
      </p:sp>
      <p:sp>
        <p:nvSpPr>
          <p:cNvPr id="37" name="bietet-b"/>
          <p:cNvSpPr txBox="1"/>
          <p:nvPr/>
        </p:nvSpPr>
        <p:spPr>
          <a:xfrm>
            <a:off x="52578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Ingenieurwissen: eine erste Einschätzung von Bau und Umbau</a:t>
            </a:r>
          </a:p>
        </p:txBody>
      </p:sp>
      <p:sp>
        <p:nvSpPr>
          <p:cNvPr id="38" name="!!match"/>
          <p:cNvSpPr/>
          <p:nvPr/>
        </p:nvSpPr>
        <p:spPr>
          <a:xfrm>
            <a:off x="4292600" y="2692400"/>
            <a:ext cx="558800" cy="330200"/>
          </a:xfrm>
          <a:prstGeom prst="leftRightArrow">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Lena und Sabine</a:t>
            </a: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a:t>
            </a:fld>
            <a:endParaRPr lang="en-US"/>
          </a:p>
        </p:txBody>
      </p:sp>
      <p:sp>
        <p:nvSpPr>
          <p:cNvPr id="26" name="!!card-a"/>
          <p:cNvSpPr/>
          <p:nvPr/>
        </p:nvSpPr>
        <p:spPr>
          <a:xfrm>
            <a:off x="4572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t-a"/>
          <p:cNvSpPr/>
          <p:nvPr/>
        </p:nvSpPr>
        <p:spPr>
          <a:xfrm>
            <a:off x="7112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a" descr="image.png"/>
          <p:cNvPicPr>
            <a:picLocks noChangeAspect="1"/>
          </p:cNvPicPr>
          <p:nvPr/>
        </p:nvPicPr>
        <p:blipFill>
          <a:blip r:embed="rId5"/>
          <a:stretch>
            <a:fillRect/>
          </a:stretch>
        </p:blipFill>
        <p:spPr>
          <a:xfrm>
            <a:off x="850900" y="1562100"/>
            <a:ext cx="355600" cy="355600"/>
          </a:xfrm>
          <a:prstGeom prst="rect">
            <a:avLst/>
          </a:prstGeom>
        </p:spPr>
      </p:pic>
      <p:sp>
        <p:nvSpPr>
          <p:cNvPr id="29" name="name-a"/>
          <p:cNvSpPr txBox="1"/>
          <p:nvPr/>
        </p:nvSpPr>
        <p:spPr>
          <a:xfrm>
            <a:off x="1524000" y="1422400"/>
            <a:ext cx="2362200" cy="635000"/>
          </a:xfrm>
          <a:prstGeom prst="rect">
            <a:avLst/>
          </a:prstGeom>
          <a:noFill/>
        </p:spPr>
        <p:txBody>
          <a:bodyPr wrap="square" anchor="ctr" lIns="0" rIns="0" tIns="0" bIns="0">
            <a:spAutoFit/>
          </a:bodyPr>
          <a:lstStyle/>
          <a:p>
            <a:r>
              <a:rPr sz="1700" b="1">
                <a:solidFill>
                  <a:schemeClr val="tx1"/>
                </a:solidFill>
              </a:rPr>
              <a:t>Lena, 28</a:t>
            </a:r>
          </a:p>
          <a:p>
            <a:r>
              <a:rPr sz="1100" b="0">
                <a:solidFill>
                  <a:schemeClr val="tx2"/>
                </a:solidFill>
              </a:rPr>
              <a:t>Radpendlerin aus Sendling</a:t>
            </a:r>
          </a:p>
        </p:txBody>
      </p:sp>
      <p:sp>
        <p:nvSpPr>
          <p:cNvPr id="30" name="sucht-a"/>
          <p:cNvSpPr txBox="1"/>
          <p:nvPr/>
        </p:nvSpPr>
        <p:spPr>
          <a:xfrm>
            <a:off x="7112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Eine verbindliche Antwort zum Radweg an der Lindwurmstraße</a:t>
            </a:r>
          </a:p>
        </p:txBody>
      </p:sp>
      <p:sp>
        <p:nvSpPr>
          <p:cNvPr id="31" name="bietet-a"/>
          <p:cNvSpPr txBox="1"/>
          <p:nvPr/>
        </p:nvSpPr>
        <p:spPr>
          <a:xfrm>
            <a:off x="7112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Eine Initiative mit Argumenten beider Seiten und einer Abstimmung</a:t>
            </a:r>
          </a:p>
        </p:txBody>
      </p:sp>
      <p:sp>
        <p:nvSpPr>
          <p:cNvPr id="32" name="!!card-b"/>
          <p:cNvSpPr/>
          <p:nvPr/>
        </p:nvSpPr>
        <p:spPr>
          <a:xfrm>
            <a:off x="50038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ot-b"/>
          <p:cNvSpPr/>
          <p:nvPr/>
        </p:nvSpPr>
        <p:spPr>
          <a:xfrm>
            <a:off x="52578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icon-b" descr="image.png"/>
          <p:cNvPicPr>
            <a:picLocks noChangeAspect="1"/>
          </p:cNvPicPr>
          <p:nvPr/>
        </p:nvPicPr>
        <p:blipFill>
          <a:blip r:embed="rId1"/>
          <a:stretch>
            <a:fillRect/>
          </a:stretch>
        </p:blipFill>
        <p:spPr>
          <a:xfrm>
            <a:off x="5397500" y="1562100"/>
            <a:ext cx="355600" cy="355600"/>
          </a:xfrm>
          <a:prstGeom prst="rect">
            <a:avLst/>
          </a:prstGeom>
        </p:spPr>
      </p:pic>
      <p:sp>
        <p:nvSpPr>
          <p:cNvPr id="35" name="name-b"/>
          <p:cNvSpPr txBox="1"/>
          <p:nvPr/>
        </p:nvSpPr>
        <p:spPr>
          <a:xfrm>
            <a:off x="6070600" y="1422400"/>
            <a:ext cx="2362200" cy="635000"/>
          </a:xfrm>
          <a:prstGeom prst="rect">
            <a:avLst/>
          </a:prstGeom>
          <a:noFill/>
        </p:spPr>
        <p:txBody>
          <a:bodyPr wrap="square" anchor="ctr" lIns="0" rIns="0" tIns="0" bIns="0">
            <a:spAutoFit/>
          </a:bodyPr>
          <a:lstStyle/>
          <a:p>
            <a:r>
              <a:rPr sz="1700" b="1">
                <a:solidFill>
                  <a:schemeClr val="tx1"/>
                </a:solidFill>
              </a:rPr>
              <a:t>Sabine, 51</a:t>
            </a:r>
          </a:p>
          <a:p>
            <a:r>
              <a:rPr sz="1100" b="0">
                <a:solidFill>
                  <a:schemeClr val="tx2"/>
                </a:solidFill>
              </a:rPr>
              <a:t>Sachbearbeiterin im Baureferat</a:t>
            </a:r>
          </a:p>
        </p:txBody>
      </p:sp>
      <p:sp>
        <p:nvSpPr>
          <p:cNvPr id="36" name="sucht-b"/>
          <p:cNvSpPr txBox="1"/>
          <p:nvPr/>
        </p:nvSpPr>
        <p:spPr>
          <a:xfrm>
            <a:off x="52578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Klare Anliegen an einem Ort statt Mails, Anrufe und Kommentare</a:t>
            </a:r>
          </a:p>
        </p:txBody>
      </p:sp>
      <p:sp>
        <p:nvSpPr>
          <p:cNvPr id="37" name="bietet-b"/>
          <p:cNvSpPr txBox="1"/>
          <p:nvPr/>
        </p:nvSpPr>
        <p:spPr>
          <a:xfrm>
            <a:off x="52578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Eine öffentliche Antwort mit Begründung, innerhalb von sechs Wochen</a:t>
            </a:r>
          </a:p>
        </p:txBody>
      </p:sp>
      <p:sp>
        <p:nvSpPr>
          <p:cNvPr id="38" name="!!match"/>
          <p:cNvSpPr/>
          <p:nvPr/>
        </p:nvSpPr>
        <p:spPr>
          <a:xfrm>
            <a:off x="4292600" y="2692400"/>
            <a:ext cx="558800" cy="330200"/>
          </a:xfrm>
          <a:prstGeom prst="leftRightArrow">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Clara und Familie Berger</a:t>
            </a: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11</a:t>
            </a:fld>
            <a:endParaRPr lang="en-US"/>
          </a:p>
        </p:txBody>
      </p:sp>
      <p:sp>
        <p:nvSpPr>
          <p:cNvPr id="26" name="!!card-a"/>
          <p:cNvSpPr/>
          <p:nvPr/>
        </p:nvSpPr>
        <p:spPr>
          <a:xfrm>
            <a:off x="4572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t-a"/>
          <p:cNvSpPr/>
          <p:nvPr/>
        </p:nvSpPr>
        <p:spPr>
          <a:xfrm>
            <a:off x="7112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a" descr="image.png"/>
          <p:cNvPicPr>
            <a:picLocks noChangeAspect="1"/>
          </p:cNvPicPr>
          <p:nvPr/>
        </p:nvPicPr>
        <p:blipFill>
          <a:blip r:embed="rId2"/>
          <a:stretch>
            <a:fillRect/>
          </a:stretch>
        </p:blipFill>
        <p:spPr>
          <a:xfrm>
            <a:off x="850900" y="1562100"/>
            <a:ext cx="355600" cy="355600"/>
          </a:xfrm>
          <a:prstGeom prst="rect">
            <a:avLst/>
          </a:prstGeom>
        </p:spPr>
      </p:pic>
      <p:sp>
        <p:nvSpPr>
          <p:cNvPr id="29" name="name-a"/>
          <p:cNvSpPr txBox="1"/>
          <p:nvPr/>
        </p:nvSpPr>
        <p:spPr>
          <a:xfrm>
            <a:off x="1524000" y="1422400"/>
            <a:ext cx="2362200" cy="635000"/>
          </a:xfrm>
          <a:prstGeom prst="rect">
            <a:avLst/>
          </a:prstGeom>
          <a:noFill/>
        </p:spPr>
        <p:txBody>
          <a:bodyPr wrap="square" anchor="ctr" lIns="0" rIns="0" tIns="0" bIns="0">
            <a:spAutoFit/>
          </a:bodyPr>
          <a:lstStyle/>
          <a:p>
            <a:r>
              <a:rPr sz="1700" b="1">
                <a:solidFill>
                  <a:schemeClr val="tx1"/>
                </a:solidFill>
              </a:rPr>
              <a:t>Clara, 31</a:t>
            </a:r>
          </a:p>
          <a:p>
            <a:r>
              <a:rPr sz="1100" b="0">
                <a:solidFill>
                  <a:schemeClr val="tx2"/>
                </a:solidFill>
              </a:rPr>
              <a:t>organisiert Foodsharing</a:t>
            </a:r>
          </a:p>
        </p:txBody>
      </p:sp>
      <p:sp>
        <p:nvSpPr>
          <p:cNvPr id="30" name="sucht-a"/>
          <p:cNvSpPr txBox="1"/>
          <p:nvPr/>
        </p:nvSpPr>
        <p:spPr>
          <a:xfrm>
            <a:off x="7112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Einen Platz für den Kühlschrank und verlässliche Abholer:innen</a:t>
            </a:r>
          </a:p>
        </p:txBody>
      </p:sp>
      <p:sp>
        <p:nvSpPr>
          <p:cNvPr id="31" name="bietet-a"/>
          <p:cNvSpPr txBox="1"/>
          <p:nvPr/>
        </p:nvSpPr>
        <p:spPr>
          <a:xfrm>
            <a:off x="7112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Jeden Abend gerettetes Brot und Gemüse, kostenlos</a:t>
            </a:r>
          </a:p>
        </p:txBody>
      </p:sp>
      <p:sp>
        <p:nvSpPr>
          <p:cNvPr id="32" name="fact-bar-a"/>
          <p:cNvSpPr/>
          <p:nvPr/>
        </p:nvSpPr>
        <p:spPr>
          <a:xfrm>
            <a:off x="711200" y="3937000"/>
            <a:ext cx="38100" cy="355600"/>
          </a:xfrm>
          <a:prstGeom prst="rect">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act-a"/>
          <p:cNvSpPr txBox="1"/>
          <p:nvPr/>
        </p:nvSpPr>
        <p:spPr>
          <a:xfrm>
            <a:off x="838200" y="3937000"/>
            <a:ext cx="3048000" cy="355600"/>
          </a:xfrm>
          <a:prstGeom prst="rect">
            <a:avLst/>
          </a:prstGeom>
          <a:noFill/>
        </p:spPr>
        <p:txBody>
          <a:bodyPr wrap="square" anchor="ctr" lIns="0" rIns="0" tIns="0" bIns="0">
            <a:spAutoFit/>
          </a:bodyPr>
          <a:lstStyle/>
          <a:p>
            <a:r>
              <a:rPr sz="900" b="1">
                <a:solidFill>
                  <a:srgbClr val="E2001A"/>
                </a:solidFill>
              </a:rPr>
              <a:t>EUROPA  </a:t>
            </a:r>
            <a:r>
              <a:rPr sz="1000" b="0">
                <a:solidFill>
                  <a:schemeClr val="tx2"/>
                </a:solidFill>
              </a:rPr>
              <a:t>130 kg Lebensmittelabfall pro Kopf und Jahr (Eurostat, 2023)</a:t>
            </a:r>
          </a:p>
        </p:txBody>
      </p:sp>
      <p:sp>
        <p:nvSpPr>
          <p:cNvPr id="34" name="!!card-b"/>
          <p:cNvSpPr/>
          <p:nvPr/>
        </p:nvSpPr>
        <p:spPr>
          <a:xfrm>
            <a:off x="5003800" y="1193800"/>
            <a:ext cx="3683000" cy="33274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ot-b"/>
          <p:cNvSpPr/>
          <p:nvPr/>
        </p:nvSpPr>
        <p:spPr>
          <a:xfrm>
            <a:off x="5257800" y="1422400"/>
            <a:ext cx="635000" cy="635000"/>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icon-b" descr="image.png"/>
          <p:cNvPicPr>
            <a:picLocks noChangeAspect="1"/>
          </p:cNvPicPr>
          <p:nvPr/>
        </p:nvPicPr>
        <p:blipFill>
          <a:blip r:embed="rId1"/>
          <a:stretch>
            <a:fillRect/>
          </a:stretch>
        </p:blipFill>
        <p:spPr>
          <a:xfrm>
            <a:off x="5397500" y="1562100"/>
            <a:ext cx="355600" cy="355600"/>
          </a:xfrm>
          <a:prstGeom prst="rect">
            <a:avLst/>
          </a:prstGeom>
        </p:spPr>
      </p:pic>
      <p:sp>
        <p:nvSpPr>
          <p:cNvPr id="37" name="name-b"/>
          <p:cNvSpPr txBox="1"/>
          <p:nvPr/>
        </p:nvSpPr>
        <p:spPr>
          <a:xfrm>
            <a:off x="6070600" y="1422400"/>
            <a:ext cx="2362200" cy="635000"/>
          </a:xfrm>
          <a:prstGeom prst="rect">
            <a:avLst/>
          </a:prstGeom>
          <a:noFill/>
        </p:spPr>
        <p:txBody>
          <a:bodyPr wrap="square" anchor="ctr" lIns="0" rIns="0" tIns="0" bIns="0">
            <a:spAutoFit/>
          </a:bodyPr>
          <a:lstStyle/>
          <a:p>
            <a:r>
              <a:rPr sz="1700" b="1">
                <a:solidFill>
                  <a:schemeClr val="tx1"/>
                </a:solidFill>
              </a:rPr>
              <a:t>Familie Berger</a:t>
            </a:r>
          </a:p>
          <a:p>
            <a:r>
              <a:rPr sz="1100" b="0">
                <a:solidFill>
                  <a:schemeClr val="tx2"/>
                </a:solidFill>
              </a:rPr>
              <a:t>Wohnprojekt, 24 Parteien</a:t>
            </a:r>
          </a:p>
        </p:txBody>
      </p:sp>
      <p:sp>
        <p:nvSpPr>
          <p:cNvPr id="38" name="sucht-b"/>
          <p:cNvSpPr txBox="1"/>
          <p:nvPr/>
        </p:nvSpPr>
        <p:spPr>
          <a:xfrm>
            <a:off x="5257800" y="2260600"/>
            <a:ext cx="3175000" cy="736600"/>
          </a:xfrm>
          <a:prstGeom prst="rect">
            <a:avLst/>
          </a:prstGeom>
          <a:noFill/>
        </p:spPr>
        <p:txBody>
          <a:bodyPr wrap="square" anchor="t" lIns="0" rIns="0" tIns="0" bIns="0">
            <a:spAutoFit/>
          </a:bodyPr>
          <a:lstStyle/>
          <a:p>
            <a:r>
              <a:rPr sz="900" b="1">
                <a:solidFill>
                  <a:srgbClr val="E2001A"/>
                </a:solidFill>
              </a:rPr>
              <a:t>SUCHT</a:t>
            </a:r>
          </a:p>
          <a:p>
            <a:pPr>
              <a:spcBef>
                <a:spcPts val="200"/>
              </a:spcBef>
            </a:pPr>
            <a:r>
              <a:rPr sz="1300" b="1">
                <a:solidFill>
                  <a:schemeClr val="tx1"/>
                </a:solidFill>
              </a:rPr>
              <a:t>Mehr Leben im Gemeinschaftsraum und weniger Abfall</a:t>
            </a:r>
          </a:p>
        </p:txBody>
      </p:sp>
      <p:sp>
        <p:nvSpPr>
          <p:cNvPr id="39" name="bietet-b"/>
          <p:cNvSpPr txBox="1"/>
          <p:nvPr/>
        </p:nvSpPr>
        <p:spPr>
          <a:xfrm>
            <a:off x="5257800" y="3073400"/>
            <a:ext cx="3175000" cy="736600"/>
          </a:xfrm>
          <a:prstGeom prst="rect">
            <a:avLst/>
          </a:prstGeom>
          <a:noFill/>
        </p:spPr>
        <p:txBody>
          <a:bodyPr wrap="square" anchor="t" lIns="0" rIns="0" tIns="0" bIns="0">
            <a:spAutoFit/>
          </a:bodyPr>
          <a:lstStyle/>
          <a:p>
            <a:r>
              <a:rPr sz="900" b="1">
                <a:solidFill>
                  <a:srgbClr val="E2001A"/>
                </a:solidFill>
              </a:rPr>
              <a:t>BIETET</a:t>
            </a:r>
          </a:p>
          <a:p>
            <a:pPr>
              <a:spcBef>
                <a:spcPts val="200"/>
              </a:spcBef>
            </a:pPr>
            <a:r>
              <a:rPr sz="1300" b="0">
                <a:solidFill>
                  <a:schemeClr val="tx1"/>
                </a:solidFill>
              </a:rPr>
              <a:t>Platz im Gemeinschaftsraum und Nachbar:innen, die abends abholen</a:t>
            </a:r>
          </a:p>
        </p:txBody>
      </p:sp>
      <p:sp>
        <p:nvSpPr>
          <p:cNvPr id="40" name="!!match"/>
          <p:cNvSpPr/>
          <p:nvPr/>
        </p:nvSpPr>
        <p:spPr>
          <a:xfrm>
            <a:off x="4292600" y="2692400"/>
            <a:ext cx="558800" cy="330200"/>
          </a:xfrm>
          <a:prstGeom prst="leftRightArrow">
            <a:avLst/>
          </a:prstGeom>
          <a:solidFill>
            <a:srgbClr val="E20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So sieht es aus</a:t>
            </a:r>
            <a:endParaRPr lang="en-US" sz="3000" dirty="0"/>
          </a:p>
        </p:txBody>
      </p:sp>
      <p:sp>
        <p:nvSpPr>
          <p:cNvPr id="3" name="!!phone-0"/>
          <p:cNvSpPr/>
          <p:nvPr/>
        </p:nvSpPr>
        <p:spPr>
          <a:xfrm>
            <a:off x="742950" y="1085850"/>
            <a:ext cx="2171700" cy="31623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p-0"/>
          <p:cNvSpPr txBox="1"/>
          <p:nvPr/>
        </p:nvSpPr>
        <p:spPr>
          <a:xfrm>
            <a:off x="762000" y="4318000"/>
            <a:ext cx="2133600" cy="381000"/>
          </a:xfrm>
          <a:prstGeom prst="rect">
            <a:avLst/>
          </a:prstGeom>
          <a:noFill/>
        </p:spPr>
        <p:txBody>
          <a:bodyPr wrap="square" anchor="t" lIns="0" rIns="0" tIns="0" bIns="0">
            <a:spAutoFit/>
          </a:bodyPr>
          <a:lstStyle/>
          <a:p>
            <a:r>
              <a:rPr sz="1100" b="1">
                <a:solidFill>
                  <a:schemeClr val="tx1"/>
                </a:solidFill>
              </a:rPr>
              <a:t>Initiativen  </a:t>
            </a:r>
            <a:r>
              <a:rPr sz="1000" b="0">
                <a:solidFill>
                  <a:schemeClr val="tx2"/>
                </a:solidFill>
              </a:rPr>
              <a:t>mit Antwortfrist</a:t>
            </a:r>
          </a:p>
        </p:txBody>
      </p:sp>
      <p:sp>
        <p:nvSpPr>
          <p:cNvPr id="5" name="!!phone-1"/>
          <p:cNvSpPr/>
          <p:nvPr/>
        </p:nvSpPr>
        <p:spPr>
          <a:xfrm>
            <a:off x="3486150" y="1085850"/>
            <a:ext cx="2171700" cy="31623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p-1"/>
          <p:cNvSpPr txBox="1"/>
          <p:nvPr/>
        </p:nvSpPr>
        <p:spPr>
          <a:xfrm>
            <a:off x="3505200" y="4318000"/>
            <a:ext cx="2133600" cy="381000"/>
          </a:xfrm>
          <a:prstGeom prst="rect">
            <a:avLst/>
          </a:prstGeom>
          <a:noFill/>
        </p:spPr>
        <p:txBody>
          <a:bodyPr wrap="square" anchor="t" lIns="0" rIns="0" tIns="0" bIns="0">
            <a:spAutoFit/>
          </a:bodyPr>
          <a:lstStyle/>
          <a:p>
            <a:r>
              <a:rPr sz="1100" b="1">
                <a:solidFill>
                  <a:schemeClr val="tx1"/>
                </a:solidFill>
              </a:rPr>
              <a:t>Marktplatz  </a:t>
            </a:r>
            <a:r>
              <a:rPr sz="1000" b="0">
                <a:solidFill>
                  <a:schemeClr val="tx2"/>
                </a:solidFill>
              </a:rPr>
              <a:t>mit Filtern und Karte</a:t>
            </a:r>
          </a:p>
        </p:txBody>
      </p:sp>
      <p:sp>
        <p:nvSpPr>
          <p:cNvPr id="7" name="!!phone-2"/>
          <p:cNvSpPr/>
          <p:nvPr/>
        </p:nvSpPr>
        <p:spPr>
          <a:xfrm>
            <a:off x="6229350" y="1085850"/>
            <a:ext cx="2171700" cy="31623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p-2"/>
          <p:cNvSpPr txBox="1"/>
          <p:nvPr/>
        </p:nvSpPr>
        <p:spPr>
          <a:xfrm>
            <a:off x="6248400" y="4318000"/>
            <a:ext cx="2133600" cy="381000"/>
          </a:xfrm>
          <a:prstGeom prst="rect">
            <a:avLst/>
          </a:prstGeom>
          <a:noFill/>
        </p:spPr>
        <p:txBody>
          <a:bodyPr wrap="square" anchor="t" lIns="0" rIns="0" tIns="0" bIns="0">
            <a:spAutoFit/>
          </a:bodyPr>
          <a:lstStyle/>
          <a:p>
            <a:r>
              <a:rPr sz="1100" b="1">
                <a:solidFill>
                  <a:schemeClr val="tx1"/>
                </a:solidFill>
              </a:rPr>
              <a:t>Gruppen  </a:t>
            </a:r>
            <a:r>
              <a:rPr sz="1000" b="0">
                <a:solidFill>
                  <a:schemeClr val="tx2"/>
                </a:solidFill>
              </a:rPr>
              <a:t>im Viertel</a:t>
            </a:r>
          </a:p>
        </p:txBody>
      </p:sp>
      <p:pic>
        <p:nvPicPr>
          <p:cNvPr id="9" name="!!img-initiative" descr="initiative.jpg"/>
          <p:cNvPicPr>
            <a:picLocks noChangeAspect="1"/>
          </p:cNvPicPr>
          <p:nvPr/>
        </p:nvPicPr>
        <p:blipFill>
          <a:blip r:embed="rId3"/>
          <a:stretch>
            <a:fillRect/>
          </a:stretch>
        </p:blipFill>
        <p:spPr>
          <a:xfrm>
            <a:off x="762000" y="1104900"/>
            <a:ext cx="2133600" cy="3124200"/>
          </a:xfrm>
          <a:prstGeom prst="rect">
            <a:avLst/>
          </a:prstGeom>
        </p:spPr>
      </p:pic>
      <p:pic>
        <p:nvPicPr>
          <p:cNvPr id="10" name="!!img-market" descr="market.jpg"/>
          <p:cNvPicPr>
            <a:picLocks noChangeAspect="1"/>
          </p:cNvPicPr>
          <p:nvPr/>
        </p:nvPicPr>
        <p:blipFill>
          <a:blip r:embed="rId4"/>
          <a:stretch>
            <a:fillRect/>
          </a:stretch>
        </p:blipFill>
        <p:spPr>
          <a:xfrm>
            <a:off x="3505200" y="1104900"/>
            <a:ext cx="2133600" cy="3124200"/>
          </a:xfrm>
          <a:prstGeom prst="rect">
            <a:avLst/>
          </a:prstGeom>
        </p:spPr>
      </p:pic>
      <p:pic>
        <p:nvPicPr>
          <p:cNvPr id="11" name="!!img-groups" descr="groups.jpg"/>
          <p:cNvPicPr>
            <a:picLocks noChangeAspect="1"/>
          </p:cNvPicPr>
          <p:nvPr/>
        </p:nvPicPr>
        <p:blipFill>
          <a:blip r:embed="rId5"/>
          <a:stretch>
            <a:fillRect/>
          </a:stretch>
        </p:blipFill>
        <p:spPr>
          <a:xfrm>
            <a:off x="6248400" y="1104900"/>
            <a:ext cx="2133600" cy="3124200"/>
          </a:xfrm>
          <a:prstGeom prst="rect">
            <a:avLst/>
          </a:prstGeom>
        </p:spPr>
      </p:pic>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Was andere soziale Medien nicht leisten</a:t>
            </a:r>
            <a:endParaRPr lang="en-US" sz="3000" dirty="0"/>
          </a:p>
        </p:txBody>
      </p:sp>
      <p:graphicFrame>
        <p:nvGraphicFramePr>
          <p:cNvPr id="13" name="compar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45920"/>
                <a:gridCol w="1554480"/>
                <a:gridCol w="1280160"/>
                <a:gridCol w="1234440"/>
                <a:gridCol w="1280160"/>
                <a:gridCol w="1234440"/>
              </a:tblGrid>
              <a:tr h="438912">
                <a:tc>
                  <a:txBody>
                    <a:bodyPr/>
                    <a:lstStyle/>
                    <a:p>
                      <a:pPr indent="0" marL="0">
                        <a:buNone/>
                      </a:pP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E8E8"/>
                    </a:solidFill>
                  </a:tcPr>
                </a:tc>
                <a:tc>
                  <a:txBody>
                    <a:bodyPr/>
                    <a:lstStyle/>
                    <a:p>
                      <a:pPr indent="0" marL="0">
                        <a:buNone/>
                      </a:pPr>
                      <a:r>
                        <a:rPr lang="en-US" sz="1100" b="1" dirty="0">
                          <a:solidFill>
                            <a:srgbClr val="FFFFFF"/>
                          </a:solidFill>
                        </a:rPr>
                        <a:t>HiveVoice</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111111"/>
                    </a:solidFill>
                  </a:tcPr>
                </a:tc>
                <a:tc>
                  <a:txBody>
                    <a:bodyPr/>
                    <a:lstStyle/>
                    <a:p>
                      <a:pPr indent="0" marL="0">
                        <a:buNone/>
                      </a:pPr>
                      <a:r>
                        <a:rPr lang="en-US" sz="1100" b="1" dirty="0">
                          <a:solidFill>
                            <a:srgbClr val="111111"/>
                          </a:solidFill>
                        </a:rPr>
                        <a:t>Soziale Medien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E8E8"/>
                    </a:solidFill>
                  </a:tcPr>
                </a:tc>
                <a:tc>
                  <a:txBody>
                    <a:bodyPr/>
                    <a:lstStyle/>
                    <a:p>
                      <a:pPr indent="0" marL="0">
                        <a:buNone/>
                      </a:pPr>
                      <a:r>
                        <a:rPr lang="en-US" sz="1100" b="1" dirty="0">
                          <a:solidFill>
                            <a:srgbClr val="111111"/>
                          </a:solidFill>
                        </a:rPr>
                        <a:t>Chat-Gruppen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E8E8"/>
                    </a:solidFill>
                  </a:tcPr>
                </a:tc>
                <a:tc>
                  <a:txBody>
                    <a:bodyPr/>
                    <a:lstStyle/>
                    <a:p>
                      <a:pPr indent="0" marL="0">
                        <a:buNone/>
                      </a:pPr>
                      <a:r>
                        <a:rPr lang="en-US" sz="1100" b="1" dirty="0">
                          <a:solidFill>
                            <a:srgbClr val="111111"/>
                          </a:solidFill>
                        </a:rPr>
                        <a:t>Kleinanzeigen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E8E8"/>
                    </a:solidFill>
                  </a:tcPr>
                </a:tc>
                <a:tc>
                  <a:txBody>
                    <a:bodyPr/>
                    <a:lstStyle/>
                    <a:p>
                      <a:pPr indent="0" marL="0">
                        <a:buNone/>
                      </a:pPr>
                      <a:r>
                        <a:rPr lang="en-US" sz="1100" b="1" dirty="0">
                          <a:solidFill>
                            <a:srgbClr val="111111"/>
                          </a:solidFill>
                        </a:rPr>
                        <a:t>Petitionen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E8E8E8"/>
                    </a:solidFill>
                  </a:tcPr>
                </a:tc>
              </a:tr>
              <a:tr h="438912">
                <a:tc>
                  <a:txBody>
                    <a:bodyPr/>
                    <a:lstStyle/>
                    <a:p>
                      <a:pPr indent="0" marL="0">
                        <a:buNone/>
                      </a:pPr>
                      <a:r>
                        <a:rPr lang="en-US" sz="1100" b="1" dirty="0">
                          <a:solidFill>
                            <a:schemeClr val="tx1"/>
                          </a:solidFill>
                        </a:rPr>
                        <a:t>Tracking</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1"/>
                          </a:solidFill>
                        </a:rPr>
                        <a:t>keins</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DE6E8"/>
                    </a:solidFill>
                  </a:tcPr>
                </a:tc>
                <a:tc>
                  <a:txBody>
                    <a:bodyPr/>
                    <a:lstStyle/>
                    <a:p>
                      <a:pPr indent="0" marL="0">
                        <a:buNone/>
                      </a:pPr>
                      <a:r>
                        <a:rPr lang="en-US" sz="1100" dirty="0">
                          <a:solidFill>
                            <a:schemeClr val="tx1"/>
                          </a:solidFill>
                        </a:rPr>
                        <a:t>Geschäftsmodell</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Metadaten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ja</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teils</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chemeClr val="tx1"/>
                          </a:solidFill>
                        </a:rPr>
                        <a:t>Was oben steht</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1"/>
                          </a:solidFill>
                        </a:rPr>
                        <a:t>was beide Seiten überzeugt</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DE6E8"/>
                    </a:solidFill>
                  </a:tcPr>
                </a:tc>
                <a:tc>
                  <a:txBody>
                    <a:bodyPr/>
                    <a:lstStyle/>
                    <a:p>
                      <a:pPr indent="0" marL="0">
                        <a:buNone/>
                      </a:pPr>
                      <a:r>
                        <a:rPr lang="en-US" sz="1100" dirty="0">
                          <a:solidFill>
                            <a:schemeClr val="tx1"/>
                          </a:solidFill>
                        </a:rPr>
                        <a:t>was aufregt</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das Neueste</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wer zahlt</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was viral geht</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chemeClr val="tx1"/>
                          </a:solidFill>
                        </a:rPr>
                        <a:t>Biete und suche</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1"/>
                          </a:solidFill>
                        </a:rPr>
                        <a:t>Tausch und Matching</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DE6E8"/>
                    </a:solidFill>
                  </a:tcPr>
                </a:tc>
                <a:tc>
                  <a:txBody>
                    <a:bodyPr/>
                    <a:lstStyle/>
                    <a:p>
                      <a:pPr indent="0" marL="0">
                        <a:buNone/>
                      </a:pPr>
                      <a:r>
                        <a:rPr lang="en-US" sz="1100" dirty="0">
                          <a:solidFill>
                            <a:schemeClr val="tx1"/>
                          </a:solidFill>
                        </a:rPr>
                        <a:t>nein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nein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nur gegen Geld</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nein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chemeClr val="tx1"/>
                          </a:solidFill>
                        </a:rPr>
                        <a:t>Entscheiden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1"/>
                          </a:solidFill>
                        </a:rPr>
                        <a:t>geheim, verbindlich</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DE6E8"/>
                    </a:solidFill>
                  </a:tcPr>
                </a:tc>
                <a:tc>
                  <a:txBody>
                    <a:bodyPr/>
                    <a:lstStyle/>
                    <a:p>
                      <a:pPr indent="0" marL="0">
                        <a:buNone/>
                      </a:pPr>
                      <a:r>
                        <a:rPr lang="en-US" sz="1100" dirty="0">
                          <a:solidFill>
                            <a:schemeClr val="tx1"/>
                          </a:solidFill>
                        </a:rPr>
                        <a:t>nein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Umfragen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nein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Unterschrift</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chemeClr val="tx1"/>
                          </a:solidFill>
                        </a:rPr>
                        <a:t>Antwort von Zuständigen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1"/>
                          </a:solidFill>
                        </a:rPr>
                        <a:t>Pflicht mit Frist</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DE6E8"/>
                    </a:solidFill>
                  </a:tcPr>
                </a:tc>
                <a:tc>
                  <a:txBody>
                    <a:bodyPr/>
                    <a:lstStyle/>
                    <a:p>
                      <a:pPr indent="0" marL="0">
                        <a:buNone/>
                      </a:pPr>
                      <a:r>
                        <a:rPr lang="en-US" sz="1100" dirty="0">
                          <a:solidFill>
                            <a:schemeClr val="tx1"/>
                          </a:solidFill>
                        </a:rPr>
                        <a:t>nein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nein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nein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freiwillig</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chemeClr val="tx1"/>
                          </a:solidFill>
                        </a:rPr>
                        <a:t>Code und Daten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b="1" dirty="0">
                          <a:solidFill>
                            <a:schemeClr val="tx1"/>
                          </a:solidFill>
                        </a:rPr>
                        <a:t>offen, selbst betreibbar</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DE6E8"/>
                    </a:solidFill>
                  </a:tcPr>
                </a:tc>
                <a:tc>
                  <a:txBody>
                    <a:bodyPr/>
                    <a:lstStyle/>
                    <a:p>
                      <a:pPr indent="0" marL="0">
                        <a:buNone/>
                      </a:pPr>
                      <a:r>
                        <a:rPr lang="en-US" sz="1100" dirty="0">
                          <a:solidFill>
                            <a:schemeClr val="tx1"/>
                          </a:solidFill>
                        </a:rPr>
                        <a:t>geschlossen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geschlossen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geschlossen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geschlossen</a:t>
                      </a:r>
                      <a:endParaRPr lang="en-US" sz="1100" dirty="0"/>
                    </a:p>
                  </a:txBody>
                  <a:tcPr marL="63500" marR="63500" marT="25400" marB="25400" anchor="ctr">
                    <a:lnL w="6350" cap="flat" cmpd="sng" algn="ctr">
                      <a:solidFill>
                        <a:srgbClr val="D4D4D4"/>
                      </a:solidFill>
                      <a:prstDash val="solid"/>
                      <a:round/>
                      <a:headEnd type="none" w="med" len="med"/>
                      <a:tailEnd type="none" w="med" len="med"/>
                    </a:lnL>
                    <a:lnR w="6350" cap="flat" cmpd="sng" algn="ctr">
                      <a:solidFill>
                        <a:srgbClr val="D4D4D4"/>
                      </a:solidFill>
                      <a:prstDash val="solid"/>
                      <a:round/>
                      <a:headEnd type="none" w="med" len="med"/>
                      <a:tailEnd type="none" w="med" len="med"/>
                    </a:lnR>
                    <a:lnT w="6350" cap="flat" cmpd="sng" algn="ctr">
                      <a:solidFill>
                        <a:srgbClr val="D4D4D4"/>
                      </a:solidFill>
                      <a:prstDash val="solid"/>
                      <a:round/>
                      <a:headEnd type="none" w="med" len="med"/>
                      <a:tailEnd type="none" w="med" len="med"/>
                    </a:lnT>
                    <a:lnB w="6350" cap="flat" cmpd="sng" algn="ctr">
                      <a:solidFill>
                        <a:srgbClr val="D4D4D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romise-title"/>
          <p:cNvSpPr txBox="1"/>
          <p:nvPr/>
        </p:nvSpPr>
        <p:spPr>
          <a:xfrm>
            <a:off x="548640" y="457200"/>
            <a:ext cx="8046720" cy="640080"/>
          </a:xfrm>
          <a:prstGeom prst="rect">
            <a:avLst/>
          </a:prstGeom>
          <a:noFill/>
          <a:ln/>
        </p:spPr>
        <p:txBody>
          <a:bodyPr wrap="square" lIns="0" tIns="0" rIns="0" bIns="0" rtlCol="0" anchor="ctr"/>
          <a:lstStyle/>
          <a:p>
            <a:pPr indent="0" marL="0">
              <a:buNone/>
            </a:pPr>
            <a:r>
              <a:rPr lang="en-US" sz="3000" b="1" dirty="0">
                <a:solidFill>
                  <a:schemeClr val="bg1"/>
                </a:solidFill>
              </a:rPr>
              <a:t>Was wir versprechen</a:t>
            </a:r>
            <a:endParaRPr lang="en-US" sz="3000" dirty="0"/>
          </a:p>
        </p:txBody>
      </p:sp>
      <p:sp>
        <p:nvSpPr>
          <p:cNvPr id="3" name="stat-0"/>
          <p:cNvSpPr txBox="1"/>
          <p:nvPr/>
        </p:nvSpPr>
        <p:spPr>
          <a:xfrm>
            <a:off x="548640" y="1737360"/>
            <a:ext cx="2011680" cy="1097280"/>
          </a:xfrm>
          <a:prstGeom prst="rect">
            <a:avLst/>
          </a:prstGeom>
          <a:noFill/>
          <a:ln/>
        </p:spPr>
        <p:txBody>
          <a:bodyPr wrap="square" lIns="0" tIns="0" rIns="0" bIns="0" rtlCol="0" anchor="ctr"/>
          <a:lstStyle/>
          <a:p>
            <a:pPr indent="0" marL="0">
              <a:buNone/>
            </a:pPr>
            <a:r>
              <a:rPr lang="en-US" sz="5400" b="1" dirty="0">
                <a:solidFill>
                  <a:schemeClr val="accent1"/>
                </a:solidFill>
              </a:rPr>
              <a:t>0</a:t>
            </a:r>
            <a:endParaRPr lang="en-US" sz="5400" dirty="0"/>
          </a:p>
        </p:txBody>
      </p:sp>
      <p:sp>
        <p:nvSpPr>
          <p:cNvPr id="4" name="stat-l-0"/>
          <p:cNvSpPr txBox="1"/>
          <p:nvPr/>
        </p:nvSpPr>
        <p:spPr>
          <a:xfrm>
            <a:off x="548640" y="2926080"/>
            <a:ext cx="1828800" cy="822960"/>
          </a:xfrm>
          <a:prstGeom prst="rect">
            <a:avLst/>
          </a:prstGeom>
          <a:noFill/>
          <a:ln/>
        </p:spPr>
        <p:txBody>
          <a:bodyPr wrap="square" lIns="0" tIns="0" rIns="0" bIns="0" rtlCol="0" anchor="t"/>
          <a:lstStyle/>
          <a:p>
            <a:pPr indent="0" marL="0">
              <a:buNone/>
            </a:pPr>
            <a:r>
              <a:rPr lang="en-US" sz="1600" dirty="0">
                <a:solidFill>
                  <a:schemeClr val="accent3"/>
                </a:solidFill>
              </a:rPr>
              <a:t>Tracking und Datenverkauf</a:t>
            </a:r>
            <a:endParaRPr lang="en-US" sz="1600" dirty="0"/>
          </a:p>
        </p:txBody>
      </p:sp>
      <p:sp>
        <p:nvSpPr>
          <p:cNvPr id="5" name="stat-1"/>
          <p:cNvSpPr txBox="1"/>
          <p:nvPr/>
        </p:nvSpPr>
        <p:spPr>
          <a:xfrm>
            <a:off x="2606040" y="1737360"/>
            <a:ext cx="2011680" cy="1097280"/>
          </a:xfrm>
          <a:prstGeom prst="rect">
            <a:avLst/>
          </a:prstGeom>
          <a:noFill/>
          <a:ln/>
        </p:spPr>
        <p:txBody>
          <a:bodyPr wrap="square" lIns="0" tIns="0" rIns="0" bIns="0" rtlCol="0" anchor="ctr"/>
          <a:lstStyle/>
          <a:p>
            <a:pPr indent="0" marL="0">
              <a:buNone/>
            </a:pPr>
            <a:r>
              <a:rPr lang="en-US" sz="5400" b="1" dirty="0">
                <a:solidFill>
                  <a:schemeClr val="bg1"/>
                </a:solidFill>
              </a:rPr>
              <a:t>1</a:t>
            </a:r>
            <a:endParaRPr lang="en-US" sz="5400" dirty="0"/>
          </a:p>
        </p:txBody>
      </p:sp>
      <p:sp>
        <p:nvSpPr>
          <p:cNvPr id="6" name="stat-l-1"/>
          <p:cNvSpPr txBox="1"/>
          <p:nvPr/>
        </p:nvSpPr>
        <p:spPr>
          <a:xfrm>
            <a:off x="2606040" y="2926080"/>
            <a:ext cx="1828800" cy="822960"/>
          </a:xfrm>
          <a:prstGeom prst="rect">
            <a:avLst/>
          </a:prstGeom>
          <a:noFill/>
          <a:ln/>
        </p:spPr>
        <p:txBody>
          <a:bodyPr wrap="square" lIns="0" tIns="0" rIns="0" bIns="0" rtlCol="0" anchor="t"/>
          <a:lstStyle/>
          <a:p>
            <a:pPr indent="0" marL="0">
              <a:buNone/>
            </a:pPr>
            <a:r>
              <a:rPr lang="en-US" sz="1600" dirty="0">
                <a:solidFill>
                  <a:schemeClr val="accent3"/>
                </a:solidFill>
              </a:rPr>
              <a:t>Person, ein Konto, eine Stimme</a:t>
            </a:r>
            <a:endParaRPr lang="en-US" sz="1600" dirty="0"/>
          </a:p>
        </p:txBody>
      </p:sp>
      <p:sp>
        <p:nvSpPr>
          <p:cNvPr id="7" name="stat-2"/>
          <p:cNvSpPr txBox="1"/>
          <p:nvPr/>
        </p:nvSpPr>
        <p:spPr>
          <a:xfrm>
            <a:off x="4663440" y="1737360"/>
            <a:ext cx="2011680" cy="1097280"/>
          </a:xfrm>
          <a:prstGeom prst="rect">
            <a:avLst/>
          </a:prstGeom>
          <a:noFill/>
          <a:ln/>
        </p:spPr>
        <p:txBody>
          <a:bodyPr wrap="square" lIns="0" tIns="0" rIns="0" bIns="0" rtlCol="0" anchor="ctr"/>
          <a:lstStyle/>
          <a:p>
            <a:pPr indent="0" marL="0">
              <a:buNone/>
            </a:pPr>
            <a:r>
              <a:rPr lang="en-US" sz="5400" b="1" dirty="0">
                <a:solidFill>
                  <a:schemeClr val="bg1"/>
                </a:solidFill>
              </a:rPr>
              <a:t>6</a:t>
            </a:r>
            <a:endParaRPr lang="en-US" sz="5400" dirty="0"/>
          </a:p>
        </p:txBody>
      </p:sp>
      <p:sp>
        <p:nvSpPr>
          <p:cNvPr id="8" name="stat-l-2"/>
          <p:cNvSpPr txBox="1"/>
          <p:nvPr/>
        </p:nvSpPr>
        <p:spPr>
          <a:xfrm>
            <a:off x="4663440" y="2926080"/>
            <a:ext cx="1828800" cy="822960"/>
          </a:xfrm>
          <a:prstGeom prst="rect">
            <a:avLst/>
          </a:prstGeom>
          <a:noFill/>
          <a:ln/>
        </p:spPr>
        <p:txBody>
          <a:bodyPr wrap="square" lIns="0" tIns="0" rIns="0" bIns="0" rtlCol="0" anchor="t"/>
          <a:lstStyle/>
          <a:p>
            <a:pPr indent="0" marL="0">
              <a:buNone/>
            </a:pPr>
            <a:r>
              <a:rPr lang="en-US" sz="1600" dirty="0">
                <a:solidFill>
                  <a:schemeClr val="accent3"/>
                </a:solidFill>
              </a:rPr>
              <a:t>Wochen Antwortfrist für Zuständige</a:t>
            </a:r>
            <a:endParaRPr lang="en-US" sz="1600" dirty="0"/>
          </a:p>
        </p:txBody>
      </p:sp>
      <p:sp>
        <p:nvSpPr>
          <p:cNvPr id="9" name="stat-3"/>
          <p:cNvSpPr txBox="1"/>
          <p:nvPr/>
        </p:nvSpPr>
        <p:spPr>
          <a:xfrm>
            <a:off x="6720840" y="1737360"/>
            <a:ext cx="2011680" cy="1097280"/>
          </a:xfrm>
          <a:prstGeom prst="rect">
            <a:avLst/>
          </a:prstGeom>
          <a:noFill/>
          <a:ln/>
        </p:spPr>
        <p:txBody>
          <a:bodyPr wrap="square" lIns="0" tIns="0" rIns="0" bIns="0" rtlCol="0" anchor="ctr"/>
          <a:lstStyle/>
          <a:p>
            <a:pPr indent="0" marL="0">
              <a:buNone/>
            </a:pPr>
            <a:r>
              <a:rPr lang="en-US" sz="5400" b="1" dirty="0">
                <a:solidFill>
                  <a:schemeClr val="bg1"/>
                </a:solidFill>
              </a:rPr>
              <a:t>100%</a:t>
            </a:r>
            <a:endParaRPr lang="en-US" sz="5400" dirty="0"/>
          </a:p>
        </p:txBody>
      </p:sp>
      <p:sp>
        <p:nvSpPr>
          <p:cNvPr id="10" name="stat-l-3"/>
          <p:cNvSpPr txBox="1"/>
          <p:nvPr/>
        </p:nvSpPr>
        <p:spPr>
          <a:xfrm>
            <a:off x="6720840" y="2926080"/>
            <a:ext cx="1828800" cy="822960"/>
          </a:xfrm>
          <a:prstGeom prst="rect">
            <a:avLst/>
          </a:prstGeom>
          <a:noFill/>
          <a:ln/>
        </p:spPr>
        <p:txBody>
          <a:bodyPr wrap="square" lIns="0" tIns="0" rIns="0" bIns="0" rtlCol="0" anchor="t"/>
          <a:lstStyle/>
          <a:p>
            <a:pPr indent="0" marL="0">
              <a:buNone/>
            </a:pPr>
            <a:r>
              <a:rPr lang="en-US" sz="1600" dirty="0">
                <a:solidFill>
                  <a:schemeClr val="accent3"/>
                </a:solidFill>
              </a:rPr>
              <a:t>offener Code (AGPL)</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Gemeinwohl statt Gewinn</a:t>
            </a:r>
            <a:endParaRPr lang="en-US" sz="3000" dirty="0"/>
          </a:p>
        </p:txBody>
      </p:sp>
      <p:sp>
        <p:nvSpPr>
          <p:cNvPr id="3" name="!!fin-card-0"/>
          <p:cNvSpPr/>
          <p:nvPr/>
        </p:nvSpPr>
        <p:spPr>
          <a:xfrm>
            <a:off x="457200" y="1193800"/>
            <a:ext cx="2641600" cy="21590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in-n-0"/>
          <p:cNvSpPr txBox="1"/>
          <p:nvPr/>
        </p:nvSpPr>
        <p:spPr>
          <a:xfrm>
            <a:off x="685800" y="1422400"/>
            <a:ext cx="2184400" cy="254000"/>
          </a:xfrm>
          <a:prstGeom prst="rect">
            <a:avLst/>
          </a:prstGeom>
          <a:noFill/>
        </p:spPr>
        <p:txBody>
          <a:bodyPr wrap="square" anchor="t" lIns="0" rIns="0" tIns="0" bIns="0">
            <a:spAutoFit/>
          </a:bodyPr>
          <a:lstStyle/>
          <a:p>
            <a:r>
              <a:rPr sz="1200" b="1">
                <a:solidFill>
                  <a:srgbClr val="E2001A"/>
                </a:solidFill>
              </a:rPr>
              <a:t>01</a:t>
            </a:r>
          </a:p>
        </p:txBody>
      </p:sp>
      <p:sp>
        <p:nvSpPr>
          <p:cNvPr id="5" name="fin-h-0"/>
          <p:cNvSpPr txBox="1"/>
          <p:nvPr/>
        </p:nvSpPr>
        <p:spPr>
          <a:xfrm>
            <a:off x="685800" y="1727200"/>
            <a:ext cx="2184400" cy="381000"/>
          </a:xfrm>
          <a:prstGeom prst="rect">
            <a:avLst/>
          </a:prstGeom>
          <a:noFill/>
        </p:spPr>
        <p:txBody>
          <a:bodyPr wrap="square" anchor="t" lIns="0" rIns="0" tIns="0" bIns="0">
            <a:spAutoFit/>
          </a:bodyPr>
          <a:lstStyle/>
          <a:p>
            <a:r>
              <a:rPr sz="1800" b="1">
                <a:solidFill>
                  <a:schemeClr val="tx1"/>
                </a:solidFill>
              </a:rPr>
              <a:t>Frei für alle</a:t>
            </a:r>
          </a:p>
        </p:txBody>
      </p:sp>
      <p:sp>
        <p:nvSpPr>
          <p:cNvPr id="6" name="fin-t-0"/>
          <p:cNvSpPr txBox="1"/>
          <p:nvPr/>
        </p:nvSpPr>
        <p:spPr>
          <a:xfrm>
            <a:off x="685800" y="2184400"/>
            <a:ext cx="2184400" cy="1016000"/>
          </a:xfrm>
          <a:prstGeom prst="rect">
            <a:avLst/>
          </a:prstGeom>
          <a:noFill/>
        </p:spPr>
        <p:txBody>
          <a:bodyPr wrap="square" anchor="t" lIns="0" rIns="0" tIns="0" bIns="0">
            <a:spAutoFit/>
          </a:bodyPr>
          <a:lstStyle/>
          <a:p>
            <a:r>
              <a:rPr sz="1300" b="0">
                <a:solidFill>
                  <a:schemeClr val="tx2"/>
                </a:solidFill>
              </a:rPr>
              <a:t>Alle Funktionen kostenlos. Offener Code, Vereine und Kommunen können selbst betreiben.</a:t>
            </a:r>
          </a:p>
        </p:txBody>
      </p:sp>
      <p:sp>
        <p:nvSpPr>
          <p:cNvPr id="7" name="!!fin-card-1"/>
          <p:cNvSpPr/>
          <p:nvPr/>
        </p:nvSpPr>
        <p:spPr>
          <a:xfrm>
            <a:off x="3251200" y="1193800"/>
            <a:ext cx="2641600" cy="21590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n-1"/>
          <p:cNvSpPr txBox="1"/>
          <p:nvPr/>
        </p:nvSpPr>
        <p:spPr>
          <a:xfrm>
            <a:off x="3479800" y="1422400"/>
            <a:ext cx="2184400" cy="254000"/>
          </a:xfrm>
          <a:prstGeom prst="rect">
            <a:avLst/>
          </a:prstGeom>
          <a:noFill/>
        </p:spPr>
        <p:txBody>
          <a:bodyPr wrap="square" anchor="t" lIns="0" rIns="0" tIns="0" bIns="0">
            <a:spAutoFit/>
          </a:bodyPr>
          <a:lstStyle/>
          <a:p>
            <a:r>
              <a:rPr sz="1200" b="1">
                <a:solidFill>
                  <a:srgbClr val="E2001A"/>
                </a:solidFill>
              </a:rPr>
              <a:t>02</a:t>
            </a:r>
          </a:p>
        </p:txBody>
      </p:sp>
      <p:sp>
        <p:nvSpPr>
          <p:cNvPr id="9" name="fin-h-1"/>
          <p:cNvSpPr txBox="1"/>
          <p:nvPr/>
        </p:nvSpPr>
        <p:spPr>
          <a:xfrm>
            <a:off x="3479800" y="1727200"/>
            <a:ext cx="2184400" cy="381000"/>
          </a:xfrm>
          <a:prstGeom prst="rect">
            <a:avLst/>
          </a:prstGeom>
          <a:noFill/>
        </p:spPr>
        <p:txBody>
          <a:bodyPr wrap="square" anchor="t" lIns="0" rIns="0" tIns="0" bIns="0">
            <a:spAutoFit/>
          </a:bodyPr>
          <a:lstStyle/>
          <a:p>
            <a:r>
              <a:rPr sz="1800" b="1">
                <a:solidFill>
                  <a:schemeClr val="tx1"/>
                </a:solidFill>
              </a:rPr>
              <a:t>Speicher</a:t>
            </a:r>
          </a:p>
        </p:txBody>
      </p:sp>
      <p:sp>
        <p:nvSpPr>
          <p:cNvPr id="10" name="fin-t-1"/>
          <p:cNvSpPr txBox="1"/>
          <p:nvPr/>
        </p:nvSpPr>
        <p:spPr>
          <a:xfrm>
            <a:off x="3479800" y="2184400"/>
            <a:ext cx="2184400" cy="1016000"/>
          </a:xfrm>
          <a:prstGeom prst="rect">
            <a:avLst/>
          </a:prstGeom>
          <a:noFill/>
        </p:spPr>
        <p:txBody>
          <a:bodyPr wrap="square" anchor="t" lIns="0" rIns="0" tIns="0" bIns="0">
            <a:spAutoFit/>
          </a:bodyPr>
          <a:lstStyle/>
          <a:p>
            <a:r>
              <a:rPr sz="1300" b="0">
                <a:solidFill>
                  <a:schemeClr val="tx2"/>
                </a:solidFill>
              </a:rPr>
              <a:t>Eigenen Cloud-Speicher anbinden, etwa Google Drive, oder Speicher dazubuchen.</a:t>
            </a:r>
          </a:p>
        </p:txBody>
      </p:sp>
      <p:sp>
        <p:nvSpPr>
          <p:cNvPr id="11" name="!!fin-card-2"/>
          <p:cNvSpPr/>
          <p:nvPr/>
        </p:nvSpPr>
        <p:spPr>
          <a:xfrm>
            <a:off x="6045200" y="1193800"/>
            <a:ext cx="2641600" cy="2159000"/>
          </a:xfrm>
          <a:prstGeom prst="rect">
            <a:avLst/>
          </a:prstGeom>
          <a:solidFill>
            <a:schemeClr val="bg1"/>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in-n-2"/>
          <p:cNvSpPr txBox="1"/>
          <p:nvPr/>
        </p:nvSpPr>
        <p:spPr>
          <a:xfrm>
            <a:off x="6273800" y="1422400"/>
            <a:ext cx="2184400" cy="254000"/>
          </a:xfrm>
          <a:prstGeom prst="rect">
            <a:avLst/>
          </a:prstGeom>
          <a:noFill/>
        </p:spPr>
        <p:txBody>
          <a:bodyPr wrap="square" anchor="t" lIns="0" rIns="0" tIns="0" bIns="0">
            <a:spAutoFit/>
          </a:bodyPr>
          <a:lstStyle/>
          <a:p>
            <a:r>
              <a:rPr sz="1200" b="1">
                <a:solidFill>
                  <a:srgbClr val="E2001A"/>
                </a:solidFill>
              </a:rPr>
              <a:t>03</a:t>
            </a:r>
          </a:p>
        </p:txBody>
      </p:sp>
      <p:sp>
        <p:nvSpPr>
          <p:cNvPr id="13" name="fin-h-2"/>
          <p:cNvSpPr txBox="1"/>
          <p:nvPr/>
        </p:nvSpPr>
        <p:spPr>
          <a:xfrm>
            <a:off x="6273800" y="1727200"/>
            <a:ext cx="2184400" cy="381000"/>
          </a:xfrm>
          <a:prstGeom prst="rect">
            <a:avLst/>
          </a:prstGeom>
          <a:noFill/>
        </p:spPr>
        <p:txBody>
          <a:bodyPr wrap="square" anchor="t" lIns="0" rIns="0" tIns="0" bIns="0">
            <a:spAutoFit/>
          </a:bodyPr>
          <a:lstStyle/>
          <a:p>
            <a:r>
              <a:rPr sz="1800" b="1">
                <a:solidFill>
                  <a:schemeClr val="tx1"/>
                </a:solidFill>
              </a:rPr>
              <a:t>Sichtbarkeit</a:t>
            </a:r>
          </a:p>
        </p:txBody>
      </p:sp>
      <p:sp>
        <p:nvSpPr>
          <p:cNvPr id="14" name="fin-t-2"/>
          <p:cNvSpPr txBox="1"/>
          <p:nvPr/>
        </p:nvSpPr>
        <p:spPr>
          <a:xfrm>
            <a:off x="6273800" y="2184400"/>
            <a:ext cx="2184400" cy="1016000"/>
          </a:xfrm>
          <a:prstGeom prst="rect">
            <a:avLst/>
          </a:prstGeom>
          <a:noFill/>
        </p:spPr>
        <p:txBody>
          <a:bodyPr wrap="square" anchor="t" lIns="0" rIns="0" tIns="0" bIns="0">
            <a:spAutoFit/>
          </a:bodyPr>
          <a:lstStyle/>
          <a:p>
            <a:r>
              <a:rPr sz="1300" b="0">
                <a:solidFill>
                  <a:schemeClr val="tx2"/>
                </a:solidFill>
              </a:rPr>
              <a:t>Dienstleister heben ihre Angebote hervor. Gekennzeichnet, ohne Tracking, ohne Profile.</a:t>
            </a:r>
          </a:p>
        </p:txBody>
      </p:sp>
      <p:sp>
        <p:nvSpPr>
          <p:cNvPr id="15" name="!!fin-bar"/>
          <p:cNvSpPr/>
          <p:nvPr/>
        </p:nvSpPr>
        <p:spPr>
          <a:xfrm>
            <a:off x="457200" y="3556000"/>
            <a:ext cx="8229600" cy="7112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in-bar-t"/>
          <p:cNvSpPr txBox="1"/>
          <p:nvPr/>
        </p:nvSpPr>
        <p:spPr>
          <a:xfrm>
            <a:off x="685800" y="3556000"/>
            <a:ext cx="7772400" cy="711200"/>
          </a:xfrm>
          <a:prstGeom prst="rect">
            <a:avLst/>
          </a:prstGeom>
          <a:noFill/>
        </p:spPr>
        <p:txBody>
          <a:bodyPr wrap="square" anchor="ctr" lIns="0" rIns="0" tIns="0" bIns="0">
            <a:spAutoFit/>
          </a:bodyPr>
          <a:lstStyle/>
          <a:p>
            <a:r>
              <a:rPr sz="1400" b="1">
                <a:solidFill>
                  <a:srgbClr val="FFFFFF"/>
                </a:solidFill>
              </a:rPr>
              <a:t>Ziel: die Betriebskosten tragen, nicht Gewinn machen. </a:t>
            </a:r>
            <a:r>
              <a:rPr sz="1400" b="0">
                <a:solidFill>
                  <a:srgbClr val="FFFFFF"/>
                </a:solidFill>
              </a:rPr>
              <a:t>Förderung finanziert den Aufbau.</a:t>
            </a:r>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85800"/>
          </a:xfrm>
          <a:prstGeom prst="rect">
            <a:avLst/>
          </a:prstGeom>
          <a:noFill/>
          <a:ln/>
        </p:spPr>
        <p:txBody>
          <a:bodyPr wrap="square" lIns="0" tIns="0" rIns="0" bIns="0" rtlCol="0" anchor="t"/>
          <a:lstStyle/>
          <a:p>
            <a:pPr algn="l" indent="0" marL="0">
              <a:buNone/>
            </a:pPr>
            <a:r>
              <a:rPr lang="en-US" sz="3000" b="1" dirty="0">
                <a:solidFill>
                  <a:schemeClr val="tx1"/>
                </a:solidFill>
              </a:rPr>
              <a:t>Auf dem Weg zur dezentralen Plattform</a:t>
            </a:r>
            <a:endParaRPr lang="en-US" sz="3000" dirty="0"/>
          </a:p>
        </p:txBody>
      </p:sp>
      <p:sp>
        <p:nvSpPr>
          <p:cNvPr id="3" name="timeline"/>
          <p:cNvSpPr/>
          <p:nvPr/>
        </p:nvSpPr>
        <p:spPr>
          <a:xfrm>
            <a:off x="822960" y="1783080"/>
            <a:ext cx="6766560" cy="0"/>
          </a:xfrm>
          <a:prstGeom prst="line">
            <a:avLst/>
          </a:prstGeom>
          <a:noFill/>
          <a:ln w="25400">
            <a:solidFill>
              <a:schemeClr val="tx1"/>
            </a:solidFill>
            <a:prstDash val="solid"/>
          </a:ln>
        </p:spPr>
      </p:sp>
      <p:sp>
        <p:nvSpPr>
          <p:cNvPr id="4" name="step-dot-0"/>
          <p:cNvSpPr/>
          <p:nvPr/>
        </p:nvSpPr>
        <p:spPr>
          <a:xfrm>
            <a:off x="594360" y="1554480"/>
            <a:ext cx="457200" cy="457200"/>
          </a:xfrm>
          <a:prstGeom prst="ellipse">
            <a:avLst/>
          </a:prstGeom>
          <a:solidFill>
            <a:schemeClr val="accent1"/>
          </a:solidFill>
          <a:ln w="25400">
            <a:solidFill>
              <a:schemeClr val="bg2"/>
            </a:solidFill>
            <a:prstDash val="solid"/>
          </a:ln>
        </p:spPr>
      </p:sp>
      <p:sp>
        <p:nvSpPr>
          <p:cNvPr id="5" name="step-n-0"/>
          <p:cNvSpPr txBox="1"/>
          <p:nvPr/>
        </p:nvSpPr>
        <p:spPr>
          <a:xfrm>
            <a:off x="59436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tep-h-0"/>
          <p:cNvSpPr txBox="1"/>
          <p:nvPr/>
        </p:nvSpPr>
        <p:spPr>
          <a:xfrm>
            <a:off x="457200" y="2240280"/>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Austauschbar</a:t>
            </a:r>
            <a:endParaRPr lang="en-US" sz="1400" dirty="0"/>
          </a:p>
        </p:txBody>
      </p:sp>
      <p:sp>
        <p:nvSpPr>
          <p:cNvPr id="7" name="step-t-0"/>
          <p:cNvSpPr txBox="1"/>
          <p:nvPr/>
        </p:nvSpPr>
        <p:spPr>
          <a:xfrm>
            <a:off x="457200" y="2788920"/>
            <a:ext cx="1554480" cy="914400"/>
          </a:xfrm>
          <a:prstGeom prst="rect">
            <a:avLst/>
          </a:prstGeom>
          <a:noFill/>
          <a:ln/>
        </p:spPr>
        <p:txBody>
          <a:bodyPr wrap="square" lIns="0" tIns="0" rIns="0" bIns="0" rtlCol="0" anchor="t"/>
          <a:lstStyle/>
          <a:p>
            <a:pPr indent="0" marL="0">
              <a:buNone/>
            </a:pPr>
            <a:r>
              <a:rPr lang="en-US" sz="1300" dirty="0">
                <a:solidFill>
                  <a:schemeClr val="tx2"/>
                </a:solidFill>
              </a:rPr>
              <a:t>Speicher, Mail, KI über offene Schnittstellen</a:t>
            </a:r>
            <a:endParaRPr lang="en-US" sz="1300" dirty="0"/>
          </a:p>
        </p:txBody>
      </p:sp>
      <p:sp>
        <p:nvSpPr>
          <p:cNvPr id="8" name="step-dot-1"/>
          <p:cNvSpPr/>
          <p:nvPr/>
        </p:nvSpPr>
        <p:spPr>
          <a:xfrm>
            <a:off x="2286000" y="1554480"/>
            <a:ext cx="457200" cy="457200"/>
          </a:xfrm>
          <a:prstGeom prst="ellipse">
            <a:avLst/>
          </a:prstGeom>
          <a:solidFill>
            <a:schemeClr val="tx1"/>
          </a:solidFill>
          <a:ln w="25400">
            <a:solidFill>
              <a:schemeClr val="bg2"/>
            </a:solidFill>
            <a:prstDash val="solid"/>
          </a:ln>
        </p:spPr>
      </p:sp>
      <p:sp>
        <p:nvSpPr>
          <p:cNvPr id="9" name="step-n-1"/>
          <p:cNvSpPr txBox="1"/>
          <p:nvPr/>
        </p:nvSpPr>
        <p:spPr>
          <a:xfrm>
            <a:off x="228600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step-h-1"/>
          <p:cNvSpPr txBox="1"/>
          <p:nvPr/>
        </p:nvSpPr>
        <p:spPr>
          <a:xfrm>
            <a:off x="2148840" y="2240280"/>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Selbst betreiben</a:t>
            </a:r>
            <a:endParaRPr lang="en-US" sz="1400" dirty="0"/>
          </a:p>
        </p:txBody>
      </p:sp>
      <p:sp>
        <p:nvSpPr>
          <p:cNvPr id="11" name="step-t-1"/>
          <p:cNvSpPr txBox="1"/>
          <p:nvPr/>
        </p:nvSpPr>
        <p:spPr>
          <a:xfrm>
            <a:off x="2148840" y="2788920"/>
            <a:ext cx="1554480" cy="914400"/>
          </a:xfrm>
          <a:prstGeom prst="rect">
            <a:avLst/>
          </a:prstGeom>
          <a:noFill/>
          <a:ln/>
        </p:spPr>
        <p:txBody>
          <a:bodyPr wrap="square" lIns="0" tIns="0" rIns="0" bIns="0" rtlCol="0" anchor="t"/>
          <a:lstStyle/>
          <a:p>
            <a:pPr indent="0" marL="0">
              <a:buNone/>
            </a:pPr>
            <a:r>
              <a:rPr lang="en-US" sz="1300" dirty="0">
                <a:solidFill>
                  <a:schemeClr val="tx2"/>
                </a:solidFill>
              </a:rPr>
              <a:t>Ein Paket für Vereine und Kommunen</a:t>
            </a:r>
            <a:endParaRPr lang="en-US" sz="1300" dirty="0"/>
          </a:p>
        </p:txBody>
      </p:sp>
      <p:sp>
        <p:nvSpPr>
          <p:cNvPr id="12" name="step-dot-2"/>
          <p:cNvSpPr/>
          <p:nvPr/>
        </p:nvSpPr>
        <p:spPr>
          <a:xfrm>
            <a:off x="3977640" y="1554480"/>
            <a:ext cx="457200" cy="457200"/>
          </a:xfrm>
          <a:prstGeom prst="ellipse">
            <a:avLst/>
          </a:prstGeom>
          <a:solidFill>
            <a:schemeClr val="tx1"/>
          </a:solidFill>
          <a:ln w="25400">
            <a:solidFill>
              <a:schemeClr val="bg2"/>
            </a:solidFill>
            <a:prstDash val="solid"/>
          </a:ln>
        </p:spPr>
      </p:sp>
      <p:sp>
        <p:nvSpPr>
          <p:cNvPr id="13" name="step-n-2"/>
          <p:cNvSpPr txBox="1"/>
          <p:nvPr/>
        </p:nvSpPr>
        <p:spPr>
          <a:xfrm>
            <a:off x="397764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step-h-2"/>
          <p:cNvSpPr txBox="1"/>
          <p:nvPr/>
        </p:nvSpPr>
        <p:spPr>
          <a:xfrm>
            <a:off x="3840480" y="2240280"/>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Eigene Identität</a:t>
            </a:r>
            <a:endParaRPr lang="en-US" sz="1400" dirty="0"/>
          </a:p>
        </p:txBody>
      </p:sp>
      <p:sp>
        <p:nvSpPr>
          <p:cNvPr id="15" name="step-t-2"/>
          <p:cNvSpPr txBox="1"/>
          <p:nvPr/>
        </p:nvSpPr>
        <p:spPr>
          <a:xfrm>
            <a:off x="3840480" y="2788920"/>
            <a:ext cx="1554480" cy="914400"/>
          </a:xfrm>
          <a:prstGeom prst="rect">
            <a:avLst/>
          </a:prstGeom>
          <a:noFill/>
          <a:ln/>
        </p:spPr>
        <p:txBody>
          <a:bodyPr wrap="square" lIns="0" tIns="0" rIns="0" bIns="0" rtlCol="0" anchor="t"/>
          <a:lstStyle/>
          <a:p>
            <a:pPr indent="0" marL="0">
              <a:buNone/>
            </a:pPr>
            <a:r>
              <a:rPr lang="en-US" sz="1300" dirty="0">
                <a:solidFill>
                  <a:schemeClr val="tx2"/>
                </a:solidFill>
              </a:rPr>
              <a:t>Online-Ausweis, eigene Anmeldung</a:t>
            </a:r>
            <a:endParaRPr lang="en-US" sz="1300" dirty="0"/>
          </a:p>
        </p:txBody>
      </p:sp>
      <p:sp>
        <p:nvSpPr>
          <p:cNvPr id="16" name="step-dot-3"/>
          <p:cNvSpPr/>
          <p:nvPr/>
        </p:nvSpPr>
        <p:spPr>
          <a:xfrm>
            <a:off x="5669280" y="1554480"/>
            <a:ext cx="457200" cy="457200"/>
          </a:xfrm>
          <a:prstGeom prst="ellipse">
            <a:avLst/>
          </a:prstGeom>
          <a:solidFill>
            <a:schemeClr val="tx1"/>
          </a:solidFill>
          <a:ln w="25400">
            <a:solidFill>
              <a:schemeClr val="bg2"/>
            </a:solidFill>
            <a:prstDash val="solid"/>
          </a:ln>
        </p:spPr>
      </p:sp>
      <p:sp>
        <p:nvSpPr>
          <p:cNvPr id="17" name="step-n-3"/>
          <p:cNvSpPr txBox="1"/>
          <p:nvPr/>
        </p:nvSpPr>
        <p:spPr>
          <a:xfrm>
            <a:off x="566928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step-h-3"/>
          <p:cNvSpPr txBox="1"/>
          <p:nvPr/>
        </p:nvSpPr>
        <p:spPr>
          <a:xfrm>
            <a:off x="5532120" y="2240280"/>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Föderation</a:t>
            </a:r>
            <a:endParaRPr lang="en-US" sz="1400" dirty="0"/>
          </a:p>
        </p:txBody>
      </p:sp>
      <p:sp>
        <p:nvSpPr>
          <p:cNvPr id="19" name="step-t-3"/>
          <p:cNvSpPr txBox="1"/>
          <p:nvPr/>
        </p:nvSpPr>
        <p:spPr>
          <a:xfrm>
            <a:off x="5532120" y="2788920"/>
            <a:ext cx="1554480" cy="914400"/>
          </a:xfrm>
          <a:prstGeom prst="rect">
            <a:avLst/>
          </a:prstGeom>
          <a:noFill/>
          <a:ln/>
        </p:spPr>
        <p:txBody>
          <a:bodyPr wrap="square" lIns="0" tIns="0" rIns="0" bIns="0" rtlCol="0" anchor="t"/>
          <a:lstStyle/>
          <a:p>
            <a:pPr indent="0" marL="0">
              <a:buNone/>
            </a:pPr>
            <a:r>
              <a:rPr lang="en-US" sz="1300" dirty="0">
                <a:solidFill>
                  <a:schemeClr val="tx2"/>
                </a:solidFill>
              </a:rPr>
              <a:t>Instanzen verbunden über ActivityPub</a:t>
            </a:r>
            <a:endParaRPr lang="en-US" sz="1300" dirty="0"/>
          </a:p>
        </p:txBody>
      </p:sp>
      <p:sp>
        <p:nvSpPr>
          <p:cNvPr id="20" name="step-dot-4"/>
          <p:cNvSpPr/>
          <p:nvPr/>
        </p:nvSpPr>
        <p:spPr>
          <a:xfrm>
            <a:off x="7360920" y="1554480"/>
            <a:ext cx="457200" cy="457200"/>
          </a:xfrm>
          <a:prstGeom prst="ellipse">
            <a:avLst/>
          </a:prstGeom>
          <a:solidFill>
            <a:schemeClr val="tx1"/>
          </a:solidFill>
          <a:ln w="25400">
            <a:solidFill>
              <a:schemeClr val="bg2"/>
            </a:solidFill>
            <a:prstDash val="solid"/>
          </a:ln>
        </p:spPr>
      </p:sp>
      <p:sp>
        <p:nvSpPr>
          <p:cNvPr id="21" name="step-n-4"/>
          <p:cNvSpPr txBox="1"/>
          <p:nvPr/>
        </p:nvSpPr>
        <p:spPr>
          <a:xfrm>
            <a:off x="7360920" y="15544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2" name="step-h-4"/>
          <p:cNvSpPr txBox="1"/>
          <p:nvPr/>
        </p:nvSpPr>
        <p:spPr>
          <a:xfrm>
            <a:off x="7223760" y="2240280"/>
            <a:ext cx="1600200" cy="548640"/>
          </a:xfrm>
          <a:prstGeom prst="rect">
            <a:avLst/>
          </a:prstGeom>
          <a:noFill/>
          <a:ln/>
        </p:spPr>
        <p:txBody>
          <a:bodyPr wrap="square" lIns="0" tIns="0" rIns="0" bIns="0" rtlCol="0" anchor="ctr"/>
          <a:lstStyle/>
          <a:p>
            <a:pPr indent="0" marL="0">
              <a:buNone/>
            </a:pPr>
            <a:r>
              <a:rPr lang="en-US" sz="1400" b="1" dirty="0">
                <a:solidFill>
                  <a:schemeClr val="tx1"/>
                </a:solidFill>
              </a:rPr>
              <a:t>Verschlüsselt</a:t>
            </a:r>
            <a:endParaRPr lang="en-US" sz="1400" dirty="0"/>
          </a:p>
        </p:txBody>
      </p:sp>
      <p:sp>
        <p:nvSpPr>
          <p:cNvPr id="23" name="step-t-4"/>
          <p:cNvSpPr txBox="1"/>
          <p:nvPr/>
        </p:nvSpPr>
        <p:spPr>
          <a:xfrm>
            <a:off x="7223760" y="2788920"/>
            <a:ext cx="1554480" cy="914400"/>
          </a:xfrm>
          <a:prstGeom prst="rect">
            <a:avLst/>
          </a:prstGeom>
          <a:noFill/>
          <a:ln/>
        </p:spPr>
        <p:txBody>
          <a:bodyPr wrap="square" lIns="0" tIns="0" rIns="0" bIns="0" rtlCol="0" anchor="t"/>
          <a:lstStyle/>
          <a:p>
            <a:pPr indent="0" marL="0">
              <a:buNone/>
            </a:pPr>
            <a:r>
              <a:rPr lang="en-US" sz="1300" dirty="0">
                <a:solidFill>
                  <a:schemeClr val="tx2"/>
                </a:solidFill>
              </a:rPr>
              <a:t>Chats Ende-zu-Ende</a:t>
            </a:r>
            <a:endParaRPr lang="en-US" sz="1300" dirty="0"/>
          </a:p>
        </p:txBody>
      </p:sp>
      <p:sp>
        <p:nvSpPr>
          <p:cNvPr id="24" name="roadmap-note-box"/>
          <p:cNvSpPr/>
          <p:nvPr/>
        </p:nvSpPr>
        <p:spPr>
          <a:xfrm>
            <a:off x="457200" y="3886200"/>
            <a:ext cx="8229600" cy="640080"/>
          </a:xfrm>
          <a:prstGeom prst="rect">
            <a:avLst/>
          </a:prstGeom>
          <a:solidFill>
            <a:schemeClr val="bg1"/>
          </a:solidFill>
          <a:ln w="9525">
            <a:solidFill>
              <a:schemeClr val="accent6"/>
            </a:solidFill>
            <a:prstDash val="solid"/>
          </a:ln>
        </p:spPr>
      </p:sp>
      <p:sp>
        <p:nvSpPr>
          <p:cNvPr id="25" name="roadmap-note"/>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b="1" dirty="0">
                <a:solidFill>
                  <a:schemeClr val="tx1"/>
                </a:solidFill>
              </a:rPr>
              <a:t>Heute schon: </a:t>
            </a:r>
            <a:pPr indent="0" marL="0">
              <a:buNone/>
            </a:pPr>
            <a:r>
              <a:rPr lang="en-US" sz="1300" dirty="0">
                <a:solidFill>
                  <a:schemeClr val="tx1"/>
                </a:solidFill>
              </a:rPr>
              <a:t>Fachlogik in offener Datenbank, Container für den eigenen Server, Karten und Ortsdaten aus offenen Quellen.</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6100" y="889000"/>
            <a:ext cx="4064000" cy="889000"/>
          </a:xfrm>
          <a:prstGeom prst="rect">
            <a:avLst/>
          </a:prstGeom>
          <a:noFill/>
          <a:ln/>
        </p:spPr>
        <p:txBody>
          <a:bodyPr wrap="square" lIns="0" tIns="0" rIns="0" bIns="0" rtlCol="0" anchor="b"/>
          <a:lstStyle/>
          <a:p>
            <a:pPr algn="l" indent="0" marL="0">
              <a:buNone/>
            </a:pPr>
            <a:r>
              <a:rPr lang="en-US" sz="5400" b="1" dirty="0">
                <a:solidFill>
                  <a:schemeClr val="bg1"/>
                </a:solidFill>
              </a:rPr>
              <a:t>Mach mit</a:t>
            </a:r>
            <a:endParaRPr lang="en-US" sz="5400" dirty="0"/>
          </a:p>
        </p:txBody>
      </p:sp>
      <p:sp>
        <p:nvSpPr>
          <p:cNvPr id="3" name="Text 0"/>
          <p:cNvSpPr/>
          <p:nvPr>
            <p:ph idx="101" type="body" hasCustomPrompt="1"/>
          </p:nvPr>
        </p:nvSpPr>
        <p:spPr>
          <a:xfrm>
            <a:off x="546100" y="1905000"/>
            <a:ext cx="4064000" cy="2032000"/>
          </a:xfrm>
          <a:prstGeom prst="rect">
            <a:avLst/>
          </a:prstGeom>
          <a:noFill/>
          <a:ln/>
        </p:spPr>
        <p:txBody>
          <a:bodyPr wrap="square" lIns="0" tIns="0" rIns="0" bIns="0" rtlCol="0" anchor="t"/>
          <a:lstStyle/>
          <a:p>
            <a:pPr algn="l" indent="0" marL="0">
              <a:spcAft>
                <a:spcPts val="600"/>
              </a:spcAft>
              <a:buNone/>
            </a:pPr>
            <a:r>
              <a:rPr sz="1600" b="1">
                <a:solidFill>
                  <a:srgbClr val="FFFFFF"/>
                </a:solidFill>
              </a:rPr>
              <a:t>Förderung</a:t>
            </a:r>
            <a:r>
              <a:rPr sz="1600" b="0">
                <a:solidFill>
                  <a:srgbClr val="B3B3B3"/>
                </a:solidFill>
              </a:rPr>
              <a:t> für Aufbau und Barrierefreiheit</a:t>
            </a:r>
            <a:endParaRPr lang="en-US" sz="2000" dirty="0"/>
          </a:p>
          <a:p>
            <a:pPr>
              <a:spcAft>
                <a:spcPts val="600"/>
              </a:spcAft>
            </a:pPr>
            <a:r>
              <a:rPr sz="1600" b="1">
                <a:solidFill>
                  <a:srgbClr val="FFFFFF"/>
                </a:solidFill>
              </a:rPr>
              <a:t>Eine Pilot-Kommune</a:t>
            </a:r>
            <a:r>
              <a:rPr sz="1600" b="0">
                <a:solidFill>
                  <a:srgbClr val="B3B3B3"/>
                </a:solidFill>
              </a:rPr>
              <a:t> oder einen Bezirk</a:t>
            </a:r>
          </a:p>
          <a:p>
            <a:pPr>
              <a:spcAft>
                <a:spcPts val="600"/>
              </a:spcAft>
            </a:pPr>
            <a:r>
              <a:rPr sz="1600" b="1">
                <a:solidFill>
                  <a:srgbClr val="FFFFFF"/>
                </a:solidFill>
              </a:rPr>
              <a:t>Vereine und Initiativen</a:t>
            </a:r>
            <a:r>
              <a:rPr sz="1600" b="0">
                <a:solidFill>
                  <a:srgbClr val="B3B3B3"/>
                </a:solidFill>
              </a:rPr>
              <a:t> als erste Gruppen</a:t>
            </a:r>
          </a:p>
        </p:txBody>
      </p:sp>
      <p:sp>
        <p:nvSpPr>
          <p:cNvPr id="4" name="ask-url"/>
          <p:cNvSpPr txBox="1"/>
          <p:nvPr/>
        </p:nvSpPr>
        <p:spPr>
          <a:xfrm>
            <a:off x="546100" y="4038600"/>
            <a:ext cx="4064000" cy="381000"/>
          </a:xfrm>
          <a:prstGeom prst="rect">
            <a:avLst/>
          </a:prstGeom>
          <a:noFill/>
        </p:spPr>
        <p:txBody>
          <a:bodyPr wrap="square" anchor="t" lIns="0" rIns="0" tIns="0" bIns="0">
            <a:spAutoFit/>
          </a:bodyPr>
          <a:lstStyle/>
          <a:p>
            <a:r>
              <a:rPr sz="1800" b="1">
                <a:solidFill>
                  <a:srgbClr val="E2001A"/>
                </a:solidFill>
              </a:rPr>
              <a:t>hive-voice.vercel.app</a:t>
            </a:r>
          </a:p>
        </p:txBody>
      </p:sp>
      <p:sp>
        <p:nvSpPr>
          <p:cNvPr id="5" name="ask-kicker"/>
          <p:cNvSpPr txBox="1"/>
          <p:nvPr/>
        </p:nvSpPr>
        <p:spPr>
          <a:xfrm>
            <a:off x="546100" y="508000"/>
            <a:ext cx="2540000" cy="254000"/>
          </a:xfrm>
          <a:prstGeom prst="rect">
            <a:avLst/>
          </a:prstGeom>
          <a:noFill/>
        </p:spPr>
        <p:txBody>
          <a:bodyPr wrap="square" anchor="t" lIns="0" rIns="0" tIns="0" bIns="0">
            <a:spAutoFit/>
          </a:bodyPr>
          <a:lstStyle/>
          <a:p>
            <a:r>
              <a:rPr sz="1000" b="1">
                <a:solidFill>
                  <a:srgbClr val="B3B3B3"/>
                </a:solidFill>
              </a:rPr>
              <a:t>WAS WIR SUCHEN</a:t>
            </a:r>
          </a:p>
        </p:txBody>
      </p:sp>
      <p:pic>
        <p:nvPicPr>
          <p:cNvPr id="6" name="!!img-machmit" descr="machmit.jpg"/>
          <p:cNvPicPr>
            <a:picLocks noChangeAspect="1"/>
          </p:cNvPicPr>
          <p:nvPr/>
        </p:nvPicPr>
        <p:blipFill>
          <a:blip r:embed="rId3"/>
          <a:stretch>
            <a:fillRect/>
          </a:stretch>
        </p:blipFill>
        <p:spPr>
          <a:xfrm>
            <a:off x="5029200" y="0"/>
            <a:ext cx="4114800" cy="51435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theme/theme1.xml><?xml version="1.0" encoding="utf-8"?>
<a:theme xmlns:a="http://schemas.openxmlformats.org/drawingml/2006/main" name="HiveVoice">
  <a:themeElements>
    <a:clrScheme name="HiveVoice">
      <a:dk1>
        <a:srgbClr val="111111"/>
      </a:dk1>
      <a:lt1>
        <a:srgbClr val="FFFFFF"/>
      </a:lt1>
      <a:dk2>
        <a:srgbClr val="5F5F5F"/>
      </a:dk2>
      <a:lt2>
        <a:srgbClr val="F4F4F4"/>
      </a:lt2>
      <a:accent1>
        <a:srgbClr val="E2001A"/>
      </a:accent1>
      <a:accent2>
        <a:srgbClr val="111111"/>
      </a:accent2>
      <a:accent3>
        <a:srgbClr val="B3B3B3"/>
      </a:accent3>
      <a:accent4>
        <a:srgbClr val="E8E8E8"/>
      </a:accent4>
      <a:accent5>
        <a:srgbClr val="FDE6E8"/>
      </a:accent5>
      <a:accent6>
        <a:srgbClr val="D4D4D4"/>
      </a:accent6>
      <a:hlink>
        <a:srgbClr val="E2001A"/>
      </a:hlink>
      <a:folHlink>
        <a:srgbClr val="5F5F5F"/>
      </a:folHlink>
    </a:clrScheme>
    <a:fontScheme name="HiveVo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HiveVoice</dc:title>
  <dc:subject>PptxGenJS Presentation</dc:subject>
  <dc:creator>HiveVoice</dc:creator>
  <cp:lastModifiedBy>HiveVoice</cp:lastModifiedBy>
  <cp:revision>1</cp:revision>
  <dcterms:created xsi:type="dcterms:W3CDTF">2026-10-20T08:14:53Z</dcterms:created>
  <dcterms:modified xsi:type="dcterms:W3CDTF">2026-10-20T08:14:53Z</dcterms:modified>
</cp:coreProperties>
</file>