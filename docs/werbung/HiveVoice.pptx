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bcfe8940-fc45-cd3c-f871-b92746509dc6}">
          <p14:sldIdLst>
            <p14:sldId id="256"/>
            <p14:sldId id="257"/>
          </p14:sldIdLst>
        </p14:section>
        <p14:section name="Idee" id="{5ff6f58c-38b2-f91a-d99f-230911fbbefd}">
          <p14:sldIdLst>
            <p14:sldId id="258"/>
            <p14:sldId id="259"/>
            <p14:sldId id="260"/>
          </p14:sldIdLst>
        </p14:section>
        <p14:section name="Menschen" id="{e12dbdd6-bb28-1fc8-82d9-c5b1c9d4bc46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Vergleich" id="{3096b718-409f-c35e-658d-c0b2d04bf3b6}">
          <p14:sldIdLst>
            <p14:sldId id="267"/>
            <p14:sldId id="268"/>
          </p14:sldIdLst>
        </p14:section>
        <p14:section name="Ausblick" id="{61f27485-47b5-2f27-da7f-1b23c13599b9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HiveVoice ist ein soziales Netzwerk für Engagement vor Ort: Menschen bieten an, was sie können, fragen an, was ihnen fehlt, gründen Gruppen und stellen Forderungen an die zuständige Stelle. Ohne Werbung, ohne Algorithmus, der Lautstärke belohnt.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985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sz="1000"/>
              <a:t>hive</a:t>
            </a:r>
            <a:r>
              <a:rPr b="0" sz="1000"/>
              <a:t>voice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  <p:sp>
        <p:nvSpPr>
          <p:cNvPr id="19" name="logo-0"/>
          <p:cNvSpPr/>
          <p:nvPr/>
        </p:nvSpPr>
        <p:spPr>
          <a:xfrm>
            <a:off x="575749" y="4864354"/>
            <a:ext cx="43571" cy="50292"/>
          </a:xfrm>
          <a:custGeom>
            <a:avLst/>
            <a:gdLst/>
            <a:ahLst/>
            <a:cxnLst/>
            <a:rect l="l" t="t" r="r" b="b"/>
            <a:pathLst>
              <a:path w="43571" h="50292">
                <a:moveTo>
                  <a:pt x="21786" y="0"/>
                </a:moveTo>
                <a:lnTo>
                  <a:pt x="43571" y="12573"/>
                </a:lnTo>
                <a:lnTo>
                  <a:pt x="43571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ogo-1"/>
          <p:cNvSpPr/>
          <p:nvPr/>
        </p:nvSpPr>
        <p:spPr>
          <a:xfrm>
            <a:off x="472879" y="4864354"/>
            <a:ext cx="43571" cy="50292"/>
          </a:xfrm>
          <a:custGeom>
            <a:avLst/>
            <a:gdLst/>
            <a:ahLst/>
            <a:cxnLst/>
            <a:rect l="l" t="t" r="r" b="b"/>
            <a:pathLst>
              <a:path w="43571" h="50292">
                <a:moveTo>
                  <a:pt x="21786" y="0"/>
                </a:moveTo>
                <a:lnTo>
                  <a:pt x="43571" y="12573"/>
                </a:lnTo>
                <a:lnTo>
                  <a:pt x="43571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ogo-2"/>
          <p:cNvSpPr/>
          <p:nvPr/>
        </p:nvSpPr>
        <p:spPr>
          <a:xfrm>
            <a:off x="550031" y="4819777"/>
            <a:ext cx="43572" cy="50292"/>
          </a:xfrm>
          <a:custGeom>
            <a:avLst/>
            <a:gdLst/>
            <a:ahLst/>
            <a:cxnLst/>
            <a:rect l="l" t="t" r="r" b="b"/>
            <a:pathLst>
              <a:path w="43572" h="50292">
                <a:moveTo>
                  <a:pt x="21786" y="0"/>
                </a:moveTo>
                <a:lnTo>
                  <a:pt x="43572" y="12573"/>
                </a:lnTo>
                <a:lnTo>
                  <a:pt x="43572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ogo-3"/>
          <p:cNvSpPr/>
          <p:nvPr/>
        </p:nvSpPr>
        <p:spPr>
          <a:xfrm>
            <a:off x="498596" y="4819777"/>
            <a:ext cx="43572" cy="50292"/>
          </a:xfrm>
          <a:custGeom>
            <a:avLst/>
            <a:gdLst/>
            <a:ahLst/>
            <a:cxnLst/>
            <a:rect l="l" t="t" r="r" b="b"/>
            <a:pathLst>
              <a:path w="43572" h="50292">
                <a:moveTo>
                  <a:pt x="21786" y="0"/>
                </a:moveTo>
                <a:lnTo>
                  <a:pt x="43572" y="12573"/>
                </a:lnTo>
                <a:lnTo>
                  <a:pt x="43572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ogo-4"/>
          <p:cNvSpPr/>
          <p:nvPr/>
        </p:nvSpPr>
        <p:spPr>
          <a:xfrm>
            <a:off x="550031" y="4908931"/>
            <a:ext cx="43572" cy="50292"/>
          </a:xfrm>
          <a:custGeom>
            <a:avLst/>
            <a:gdLst/>
            <a:ahLst/>
            <a:cxnLst/>
            <a:rect l="l" t="t" r="r" b="b"/>
            <a:pathLst>
              <a:path w="43572" h="50292">
                <a:moveTo>
                  <a:pt x="21786" y="0"/>
                </a:moveTo>
                <a:lnTo>
                  <a:pt x="43572" y="12573"/>
                </a:lnTo>
                <a:lnTo>
                  <a:pt x="43572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ogo-5"/>
          <p:cNvSpPr/>
          <p:nvPr/>
        </p:nvSpPr>
        <p:spPr>
          <a:xfrm>
            <a:off x="498596" y="4908931"/>
            <a:ext cx="43572" cy="50292"/>
          </a:xfrm>
          <a:custGeom>
            <a:avLst/>
            <a:gdLst/>
            <a:ahLst/>
            <a:cxnLst/>
            <a:rect l="l" t="t" r="r" b="b"/>
            <a:pathLst>
              <a:path w="43572" h="50292">
                <a:moveTo>
                  <a:pt x="21786" y="0"/>
                </a:moveTo>
                <a:lnTo>
                  <a:pt x="43572" y="12573"/>
                </a:lnTo>
                <a:lnTo>
                  <a:pt x="43572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ogo-center"/>
          <p:cNvSpPr/>
          <p:nvPr/>
        </p:nvSpPr>
        <p:spPr>
          <a:xfrm>
            <a:off x="524314" y="4864354"/>
            <a:ext cx="43571" cy="50292"/>
          </a:xfrm>
          <a:custGeom>
            <a:avLst/>
            <a:gdLst/>
            <a:ahLst/>
            <a:cxnLst/>
            <a:rect l="l" t="t" r="r" b="b"/>
            <a:pathLst>
              <a:path w="43571" h="50292">
                <a:moveTo>
                  <a:pt x="21786" y="0"/>
                </a:moveTo>
                <a:lnTo>
                  <a:pt x="43571" y="12573"/>
                </a:lnTo>
                <a:lnTo>
                  <a:pt x="43571" y="37719"/>
                </a:lnTo>
                <a:lnTo>
                  <a:pt x="21786" y="50292"/>
                </a:lnTo>
                <a:lnTo>
                  <a:pt x="0" y="37719"/>
                </a:lnTo>
                <a:lnTo>
                  <a:pt x="0" y="12573"/>
                </a:lnTo>
                <a:close/>
              </a:path>
            </a:pathLst>
          </a:custGeom>
          <a:solidFill>
            <a:srgbClr val="E2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b="1" sz="5400"/>
              <a:t>hive</a:t>
            </a:r>
            <a:r>
              <a:rPr b="0" sz="5400"/>
              <a:t>voice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Gemeinsam bewegen, was vor Ort fehlt.</a:t>
            </a:r>
            <a:endParaRPr lang="en-US" sz="2000" dirty="0"/>
          </a:p>
        </p:txBody>
      </p:sp>
      <p:sp>
        <p:nvSpPr>
          <p:cNvPr id="4" name="logo-0"/>
          <p:cNvSpPr/>
          <p:nvPr/>
        </p:nvSpPr>
        <p:spPr>
          <a:xfrm>
            <a:off x="7540269" y="185928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09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09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1"/>
          <p:cNvSpPr/>
          <p:nvPr/>
        </p:nvSpPr>
        <p:spPr>
          <a:xfrm>
            <a:off x="6054369" y="185928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09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09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-2"/>
          <p:cNvSpPr/>
          <p:nvPr/>
        </p:nvSpPr>
        <p:spPr>
          <a:xfrm>
            <a:off x="7168794" y="121539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-3"/>
          <p:cNvSpPr/>
          <p:nvPr/>
        </p:nvSpPr>
        <p:spPr>
          <a:xfrm>
            <a:off x="6425844" y="121539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ogo-4"/>
          <p:cNvSpPr/>
          <p:nvPr/>
        </p:nvSpPr>
        <p:spPr>
          <a:xfrm>
            <a:off x="7168794" y="250317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go-5"/>
          <p:cNvSpPr/>
          <p:nvPr/>
        </p:nvSpPr>
        <p:spPr>
          <a:xfrm>
            <a:off x="6425844" y="250317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ogo-center"/>
          <p:cNvSpPr/>
          <p:nvPr/>
        </p:nvSpPr>
        <p:spPr>
          <a:xfrm>
            <a:off x="6797319" y="185928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09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09"/>
                </a:lnTo>
                <a:close/>
              </a:path>
            </a:pathLst>
          </a:custGeom>
          <a:solidFill>
            <a:srgbClr val="E2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Engagement zerfällt heute in zehn Apps</a:t>
            </a:r>
            <a:endParaRPr lang="en-US" sz="3000" dirty="0"/>
          </a:p>
        </p:txBody>
      </p:sp>
      <p:sp>
        <p:nvSpPr>
          <p:cNvPr id="3" name="problem-text"/>
          <p:cNvSpPr txBox="1"/>
          <p:nvPr/>
        </p:nvSpPr>
        <p:spPr>
          <a:xfrm>
            <a:off x="457200" y="123444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Wer etwas bewegen will, springt zwischen Gruppen-Chats, Kleinanzeigen, Petitionsseiten und Mails.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Plattformen belohnen, was Reaktionen auslöst, nicht was weiterhilft. Und wer eine Forderung stellt, bekommt selten eine Antwort.</a:t>
            </a:r>
            <a:endParaRPr lang="en-US" sz="1600" dirty="0"/>
          </a:p>
        </p:txBody>
      </p:sp>
      <p:sp>
        <p:nvSpPr>
          <p:cNvPr id="4" name="app-0"/>
          <p:cNvSpPr/>
          <p:nvPr/>
        </p:nvSpPr>
        <p:spPr>
          <a:xfrm>
            <a:off x="4754880" y="1234440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app-t-0"/>
          <p:cNvSpPr txBox="1"/>
          <p:nvPr/>
        </p:nvSpPr>
        <p:spPr>
          <a:xfrm>
            <a:off x="4754880" y="1234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Gruppen-Chats</a:t>
            </a:r>
            <a:endParaRPr lang="en-US" sz="1300" dirty="0"/>
          </a:p>
        </p:txBody>
      </p:sp>
      <p:sp>
        <p:nvSpPr>
          <p:cNvPr id="6" name="app-1"/>
          <p:cNvSpPr/>
          <p:nvPr/>
        </p:nvSpPr>
        <p:spPr>
          <a:xfrm>
            <a:off x="6720840" y="1234440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app-t-1"/>
          <p:cNvSpPr txBox="1"/>
          <p:nvPr/>
        </p:nvSpPr>
        <p:spPr>
          <a:xfrm>
            <a:off x="6720840" y="1234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Soziale Medien</a:t>
            </a:r>
            <a:endParaRPr lang="en-US" sz="1300" dirty="0"/>
          </a:p>
        </p:txBody>
      </p:sp>
      <p:sp>
        <p:nvSpPr>
          <p:cNvPr id="8" name="app-2"/>
          <p:cNvSpPr/>
          <p:nvPr/>
        </p:nvSpPr>
        <p:spPr>
          <a:xfrm>
            <a:off x="4754880" y="1801368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app-t-2"/>
          <p:cNvSpPr txBox="1"/>
          <p:nvPr/>
        </p:nvSpPr>
        <p:spPr>
          <a:xfrm>
            <a:off x="4754880" y="1801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Kleinanzeigen</a:t>
            </a:r>
            <a:endParaRPr lang="en-US" sz="1300" dirty="0"/>
          </a:p>
        </p:txBody>
      </p:sp>
      <p:sp>
        <p:nvSpPr>
          <p:cNvPr id="10" name="app-3"/>
          <p:cNvSpPr/>
          <p:nvPr/>
        </p:nvSpPr>
        <p:spPr>
          <a:xfrm>
            <a:off x="6720840" y="1801368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app-t-3"/>
          <p:cNvSpPr txBox="1"/>
          <p:nvPr/>
        </p:nvSpPr>
        <p:spPr>
          <a:xfrm>
            <a:off x="6720840" y="18013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Petitionen</a:t>
            </a:r>
            <a:endParaRPr lang="en-US" sz="1300" dirty="0"/>
          </a:p>
        </p:txBody>
      </p:sp>
      <p:sp>
        <p:nvSpPr>
          <p:cNvPr id="12" name="app-4"/>
          <p:cNvSpPr/>
          <p:nvPr/>
        </p:nvSpPr>
        <p:spPr>
          <a:xfrm>
            <a:off x="4754880" y="2368296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app-t-4"/>
          <p:cNvSpPr txBox="1"/>
          <p:nvPr/>
        </p:nvSpPr>
        <p:spPr>
          <a:xfrm>
            <a:off x="4754880" y="23682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E-Mail-Verteiler</a:t>
            </a:r>
            <a:endParaRPr lang="en-US" sz="1300" dirty="0"/>
          </a:p>
        </p:txBody>
      </p:sp>
      <p:sp>
        <p:nvSpPr>
          <p:cNvPr id="14" name="app-5"/>
          <p:cNvSpPr/>
          <p:nvPr/>
        </p:nvSpPr>
        <p:spPr>
          <a:xfrm>
            <a:off x="6720840" y="2368296"/>
            <a:ext cx="1828800" cy="43891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app-t-5"/>
          <p:cNvSpPr txBox="1"/>
          <p:nvPr/>
        </p:nvSpPr>
        <p:spPr>
          <a:xfrm>
            <a:off x="6720840" y="23682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Aushang im Haus</a:t>
            </a:r>
            <a:endParaRPr lang="en-US" sz="1300" dirty="0"/>
          </a:p>
        </p:txBody>
      </p:sp>
      <p:sp>
        <p:nvSpPr>
          <p:cNvPr id="16" name="arrow"/>
          <p:cNvSpPr/>
          <p:nvPr/>
        </p:nvSpPr>
        <p:spPr>
          <a:xfrm>
            <a:off x="6355080" y="2971800"/>
            <a:ext cx="457200" cy="411480"/>
          </a:xfrm>
          <a:prstGeom prst="down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one"/>
          <p:cNvSpPr/>
          <p:nvPr/>
        </p:nvSpPr>
        <p:spPr>
          <a:xfrm>
            <a:off x="4754880" y="3520440"/>
            <a:ext cx="3794760" cy="6858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one-t"/>
          <p:cNvSpPr txBox="1"/>
          <p:nvPr/>
        </p:nvSpPr>
        <p:spPr>
          <a:xfrm>
            <a:off x="4892040" y="3520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Ein Ort: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bieten, suchen, entscheiden, fordern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Grundsätze</a:t>
            </a:r>
            <a:endParaRPr lang="en-US" sz="3000" dirty="0"/>
          </a:p>
        </p:txBody>
      </p:sp>
      <p:sp>
        <p:nvSpPr>
          <p:cNvPr id="3" name="principle-0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-dot-0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274320" cy="274320"/>
          </a:xfrm>
          <a:prstGeom prst="rect">
            <a:avLst/>
          </a:prstGeom>
        </p:spPr>
      </p:pic>
      <p:sp>
        <p:nvSpPr>
          <p:cNvPr id="6" name="p-h-0"/>
          <p:cNvSpPr txBox="1"/>
          <p:nvPr/>
        </p:nvSpPr>
        <p:spPr>
          <a:xfrm>
            <a:off x="1417320" y="13898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Gehör statt Reichweite</a:t>
            </a:r>
            <a:endParaRPr lang="en-US" sz="1600" dirty="0"/>
          </a:p>
        </p:txBody>
      </p:sp>
      <p:sp>
        <p:nvSpPr>
          <p:cNvPr id="7" name="p-t-0"/>
          <p:cNvSpPr txBox="1"/>
          <p:nvPr/>
        </p:nvSpPr>
        <p:spPr>
          <a:xfrm>
            <a:off x="1417320" y="1755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Oben stehen Argumente, die beide Seiten überzeugen. Keine Follower-Zahlen, keine Likes als Währung.</a:t>
            </a:r>
            <a:endParaRPr lang="en-US" sz="1200" dirty="0"/>
          </a:p>
        </p:txBody>
      </p:sp>
      <p:sp>
        <p:nvSpPr>
          <p:cNvPr id="8" name="principle-1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p-dot-1"/>
          <p:cNvSpPr/>
          <p:nvPr/>
        </p:nvSpPr>
        <p:spPr>
          <a:xfrm>
            <a:off x="4892040" y="14630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p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00200"/>
            <a:ext cx="274320" cy="274320"/>
          </a:xfrm>
          <a:prstGeom prst="rect">
            <a:avLst/>
          </a:prstGeom>
        </p:spPr>
      </p:pic>
      <p:sp>
        <p:nvSpPr>
          <p:cNvPr id="11" name="p-h-1"/>
          <p:cNvSpPr txBox="1"/>
          <p:nvPr/>
        </p:nvSpPr>
        <p:spPr>
          <a:xfrm>
            <a:off x="5623560" y="13898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Echte Menschen</a:t>
            </a:r>
            <a:endParaRPr lang="en-US" sz="1600" dirty="0"/>
          </a:p>
        </p:txBody>
      </p:sp>
      <p:sp>
        <p:nvSpPr>
          <p:cNvPr id="12" name="p-t-1"/>
          <p:cNvSpPr txBox="1"/>
          <p:nvPr/>
        </p:nvSpPr>
        <p:spPr>
          <a:xfrm>
            <a:off x="5623560" y="1755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Eine Person, ein Konto. Später mit Online-Ausweis bestätigt. Pseudonyme bleiben möglich.</a:t>
            </a:r>
            <a:endParaRPr lang="en-US" sz="1200" dirty="0"/>
          </a:p>
        </p:txBody>
      </p:sp>
      <p:sp>
        <p:nvSpPr>
          <p:cNvPr id="13" name="principle-2"/>
          <p:cNvSpPr/>
          <p:nvPr/>
        </p:nvSpPr>
        <p:spPr>
          <a:xfrm>
            <a:off x="457200" y="288036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p-dot-2"/>
          <p:cNvSpPr/>
          <p:nvPr/>
        </p:nvSpPr>
        <p:spPr>
          <a:xfrm>
            <a:off x="685800" y="3154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p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40"/>
            <a:ext cx="274320" cy="274320"/>
          </a:xfrm>
          <a:prstGeom prst="rect">
            <a:avLst/>
          </a:prstGeom>
        </p:spPr>
      </p:pic>
      <p:sp>
        <p:nvSpPr>
          <p:cNvPr id="16" name="p-h-2"/>
          <p:cNvSpPr txBox="1"/>
          <p:nvPr/>
        </p:nvSpPr>
        <p:spPr>
          <a:xfrm>
            <a:off x="1417320" y="30815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Verbindlich entscheiden</a:t>
            </a:r>
            <a:endParaRPr lang="en-US" sz="1600" dirty="0"/>
          </a:p>
        </p:txBody>
      </p:sp>
      <p:sp>
        <p:nvSpPr>
          <p:cNvPr id="17" name="p-t-2"/>
          <p:cNvSpPr txBox="1"/>
          <p:nvPr/>
        </p:nvSpPr>
        <p:spPr>
          <a:xfrm>
            <a:off x="1417320" y="344728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Geheime Abstimmungen, Betroffene zählen verbindlich, Zuständige antworten mit Frist und öffentlich.</a:t>
            </a:r>
            <a:endParaRPr lang="en-US" sz="1200" dirty="0"/>
          </a:p>
        </p:txBody>
      </p:sp>
      <p:sp>
        <p:nvSpPr>
          <p:cNvPr id="18" name="principle-3"/>
          <p:cNvSpPr/>
          <p:nvPr/>
        </p:nvSpPr>
        <p:spPr>
          <a:xfrm>
            <a:off x="4663440" y="2880360"/>
            <a:ext cx="4023360" cy="1508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p-dot-3"/>
          <p:cNvSpPr/>
          <p:nvPr/>
        </p:nvSpPr>
        <p:spPr>
          <a:xfrm>
            <a:off x="4892040" y="3154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p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291840"/>
            <a:ext cx="274320" cy="274320"/>
          </a:xfrm>
          <a:prstGeom prst="rect">
            <a:avLst/>
          </a:prstGeom>
        </p:spPr>
      </p:pic>
      <p:sp>
        <p:nvSpPr>
          <p:cNvPr id="21" name="p-h-3"/>
          <p:cNvSpPr txBox="1"/>
          <p:nvPr/>
        </p:nvSpPr>
        <p:spPr>
          <a:xfrm>
            <a:off x="5623560" y="30815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Gemeingut statt Geschäft</a:t>
            </a:r>
            <a:endParaRPr lang="en-US" sz="1600" dirty="0"/>
          </a:p>
        </p:txBody>
      </p:sp>
      <p:sp>
        <p:nvSpPr>
          <p:cNvPr id="22" name="p-t-3"/>
          <p:cNvSpPr txBox="1"/>
          <p:nvPr/>
        </p:nvSpPr>
        <p:spPr>
          <a:xfrm>
            <a:off x="5623560" y="344728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Keine Werbung, kein Tracking. Offener Code (AGPL), selbst betreibbar von Vereinen und Kommunen.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Eine App, vier Bausteine</a:t>
            </a:r>
            <a:endParaRPr lang="en-US" sz="3000" dirty="0"/>
          </a:p>
        </p:txBody>
      </p:sp>
      <p:sp>
        <p:nvSpPr>
          <p:cNvPr id="3" name="block-0"/>
          <p:cNvSpPr/>
          <p:nvPr/>
        </p:nvSpPr>
        <p:spPr>
          <a:xfrm>
            <a:off x="45720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4" name="b-icon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502920" cy="502920"/>
          </a:xfrm>
          <a:prstGeom prst="rect">
            <a:avLst/>
          </a:prstGeom>
        </p:spPr>
      </p:pic>
      <p:sp>
        <p:nvSpPr>
          <p:cNvPr id="5" name="b-h-0"/>
          <p:cNvSpPr txBox="1"/>
          <p:nvPr/>
        </p:nvSpPr>
        <p:spPr>
          <a:xfrm>
            <a:off x="68580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Anliegen</a:t>
            </a:r>
            <a:endParaRPr lang="en-US" sz="1800" dirty="0"/>
          </a:p>
        </p:txBody>
      </p:sp>
      <p:sp>
        <p:nvSpPr>
          <p:cNvPr id="6" name="b-t-0"/>
          <p:cNvSpPr txBox="1"/>
          <p:nvPr/>
        </p:nvSpPr>
        <p:spPr>
          <a:xfrm>
            <a:off x="68580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Biete und suche in einem Formular: Hilfe, Jobs, Wohnen, Dinge, Mitfahrt, Kurse. Tausch legt beides an.</a:t>
            </a:r>
            <a:endParaRPr lang="en-US" sz="1200" dirty="0"/>
          </a:p>
        </p:txBody>
      </p:sp>
      <p:sp>
        <p:nvSpPr>
          <p:cNvPr id="7" name="block-1"/>
          <p:cNvSpPr/>
          <p:nvPr/>
        </p:nvSpPr>
        <p:spPr>
          <a:xfrm>
            <a:off x="256032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8" name="b-icon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417320"/>
            <a:ext cx="502920" cy="502920"/>
          </a:xfrm>
          <a:prstGeom prst="rect">
            <a:avLst/>
          </a:prstGeom>
        </p:spPr>
      </p:pic>
      <p:sp>
        <p:nvSpPr>
          <p:cNvPr id="9" name="b-h-1"/>
          <p:cNvSpPr txBox="1"/>
          <p:nvPr/>
        </p:nvSpPr>
        <p:spPr>
          <a:xfrm>
            <a:off x="278892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Gruppen</a:t>
            </a:r>
            <a:endParaRPr lang="en-US" sz="1800" dirty="0"/>
          </a:p>
        </p:txBody>
      </p:sp>
      <p:sp>
        <p:nvSpPr>
          <p:cNvPr id="10" name="b-t-1"/>
          <p:cNvSpPr txBox="1"/>
          <p:nvPr/>
        </p:nvSpPr>
        <p:spPr>
          <a:xfrm>
            <a:off x="278892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Ziele mit Abstimmung, Aufgaben, Dokumente, Sammlung und Untergruppen. Vorlagen für zehn Gemeinschaften.</a:t>
            </a:r>
            <a:endParaRPr lang="en-US" sz="1200" dirty="0"/>
          </a:p>
        </p:txBody>
      </p:sp>
      <p:sp>
        <p:nvSpPr>
          <p:cNvPr id="11" name="block-2"/>
          <p:cNvSpPr/>
          <p:nvPr/>
        </p:nvSpPr>
        <p:spPr>
          <a:xfrm>
            <a:off x="466344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12" name="b-icon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17320"/>
            <a:ext cx="502920" cy="502920"/>
          </a:xfrm>
          <a:prstGeom prst="rect">
            <a:avLst/>
          </a:prstGeom>
        </p:spPr>
      </p:pic>
      <p:sp>
        <p:nvSpPr>
          <p:cNvPr id="13" name="b-h-2"/>
          <p:cNvSpPr txBox="1"/>
          <p:nvPr/>
        </p:nvSpPr>
        <p:spPr>
          <a:xfrm>
            <a:off x="489204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Initiativen</a:t>
            </a:r>
            <a:endParaRPr lang="en-US" sz="1800" dirty="0"/>
          </a:p>
        </p:txBody>
      </p:sp>
      <p:sp>
        <p:nvSpPr>
          <p:cNvPr id="14" name="b-t-2"/>
          <p:cNvSpPr txBox="1"/>
          <p:nvPr/>
        </p:nvSpPr>
        <p:spPr>
          <a:xfrm>
            <a:off x="489204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Eine Forderung an die zuständige Stelle: Debatte, geheime Abstimmung, sechs Wochen Antwortfrist.</a:t>
            </a:r>
            <a:endParaRPr lang="en-US" sz="1200" dirty="0"/>
          </a:p>
        </p:txBody>
      </p:sp>
      <p:sp>
        <p:nvSpPr>
          <p:cNvPr id="15" name="block-3"/>
          <p:cNvSpPr/>
          <p:nvPr/>
        </p:nvSpPr>
        <p:spPr>
          <a:xfrm>
            <a:off x="6766560" y="1188720"/>
            <a:ext cx="1920240" cy="3246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pic>
        <p:nvPicPr>
          <p:cNvPr id="16" name="b-icon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417320"/>
            <a:ext cx="502920" cy="502920"/>
          </a:xfrm>
          <a:prstGeom prst="rect">
            <a:avLst/>
          </a:prstGeom>
        </p:spPr>
      </p:pic>
      <p:sp>
        <p:nvSpPr>
          <p:cNvPr id="17" name="b-h-3"/>
          <p:cNvSpPr txBox="1"/>
          <p:nvPr/>
        </p:nvSpPr>
        <p:spPr>
          <a:xfrm>
            <a:off x="699516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Verbinden</a:t>
            </a:r>
            <a:endParaRPr lang="en-US" sz="1800" dirty="0"/>
          </a:p>
        </p:txBody>
      </p:sp>
      <p:sp>
        <p:nvSpPr>
          <p:cNvPr id="18" name="b-t-3"/>
          <p:cNvSpPr txBox="1"/>
          <p:nvPr/>
        </p:nvSpPr>
        <p:spPr>
          <a:xfrm>
            <a:off x="6995160" y="256032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Chats und Marktplatz des Ortes. Alles lässt sich als Karte weitergeben, mit getrennten Lese- und Schreibrechten.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Biete und suche finden sich, mit Begründung</a:t>
            </a:r>
            <a:endParaRPr lang="en-US" sz="3000" dirty="0"/>
          </a:p>
        </p:txBody>
      </p:sp>
      <p:sp>
        <p:nvSpPr>
          <p:cNvPr id="3" name="offer-card"/>
          <p:cNvSpPr/>
          <p:nvPr/>
        </p:nvSpPr>
        <p:spPr>
          <a:xfrm>
            <a:off x="457200" y="1280160"/>
            <a:ext cx="2651760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offer-t"/>
          <p:cNvSpPr txBox="1"/>
          <p:nvPr/>
        </p:nvSpPr>
        <p:spPr>
          <a:xfrm>
            <a:off x="640080" y="1417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ANGEBOT</a:t>
            </a:r>
            <a:endParaRPr lang="en-US" sz="11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3D-Modellierung in Blender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Felix · München · kostenlos</a:t>
            </a:r>
            <a:endParaRPr lang="en-US" sz="1100" dirty="0"/>
          </a:p>
        </p:txBody>
      </p:sp>
      <p:sp>
        <p:nvSpPr>
          <p:cNvPr id="5" name="need-card"/>
          <p:cNvSpPr/>
          <p:nvPr/>
        </p:nvSpPr>
        <p:spPr>
          <a:xfrm>
            <a:off x="6035040" y="1280160"/>
            <a:ext cx="2651760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need-t"/>
          <p:cNvSpPr txBox="1"/>
          <p:nvPr/>
        </p:nvSpPr>
        <p:spPr>
          <a:xfrm>
            <a:off x="6217920" y="1417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GESUCH</a:t>
            </a:r>
            <a:endParaRPr lang="en-US" sz="11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Auer Mühlbach in Blender modellieren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Kurzfilm-Gruppe · Sendling</a:t>
            </a:r>
            <a:endParaRPr lang="en-US" sz="1100" dirty="0"/>
          </a:p>
        </p:txBody>
      </p:sp>
      <p:sp>
        <p:nvSpPr>
          <p:cNvPr id="7" name="match-arrow"/>
          <p:cNvSpPr/>
          <p:nvPr/>
        </p:nvSpPr>
        <p:spPr>
          <a:xfrm>
            <a:off x="3291840" y="1783080"/>
            <a:ext cx="2560320" cy="457200"/>
          </a:xfrm>
          <a:prstGeom prst="leftRightArrow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r-0"/>
          <p:cNvSpPr/>
          <p:nvPr/>
        </p:nvSpPr>
        <p:spPr>
          <a:xfrm>
            <a:off x="457200" y="306324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r-t-0"/>
          <p:cNvSpPr txBox="1"/>
          <p:nvPr/>
        </p:nvSpPr>
        <p:spPr>
          <a:xfrm>
            <a:off x="457200" y="3063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#blender</a:t>
            </a:r>
            <a:endParaRPr lang="en-US" sz="1300" dirty="0"/>
          </a:p>
        </p:txBody>
      </p:sp>
      <p:sp>
        <p:nvSpPr>
          <p:cNvPr id="10" name="r-1"/>
          <p:cNvSpPr/>
          <p:nvPr/>
        </p:nvSpPr>
        <p:spPr>
          <a:xfrm>
            <a:off x="3246120" y="306324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r-t-1"/>
          <p:cNvSpPr txBox="1"/>
          <p:nvPr/>
        </p:nvSpPr>
        <p:spPr>
          <a:xfrm>
            <a:off x="3246120" y="3063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ähnliche Worte</a:t>
            </a:r>
            <a:endParaRPr lang="en-US" sz="1300" dirty="0"/>
          </a:p>
        </p:txBody>
      </p:sp>
      <p:sp>
        <p:nvSpPr>
          <p:cNvPr id="12" name="r-2"/>
          <p:cNvSpPr/>
          <p:nvPr/>
        </p:nvSpPr>
        <p:spPr>
          <a:xfrm>
            <a:off x="6035040" y="306324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r-t-2"/>
          <p:cNvSpPr txBox="1"/>
          <p:nvPr/>
        </p:nvSpPr>
        <p:spPr>
          <a:xfrm>
            <a:off x="6035040" y="3063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gleiche Kategorie</a:t>
            </a:r>
            <a:endParaRPr lang="en-US" sz="1300" dirty="0"/>
          </a:p>
        </p:txBody>
      </p:sp>
      <p:sp>
        <p:nvSpPr>
          <p:cNvPr id="14" name="r-3"/>
          <p:cNvSpPr/>
          <p:nvPr/>
        </p:nvSpPr>
        <p:spPr>
          <a:xfrm>
            <a:off x="457200" y="361188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r-t-3"/>
          <p:cNvSpPr txBox="1"/>
          <p:nvPr/>
        </p:nvSpPr>
        <p:spPr>
          <a:xfrm>
            <a:off x="457200" y="3611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 selben Ort</a:t>
            </a:r>
            <a:endParaRPr lang="en-US" sz="1300" dirty="0"/>
          </a:p>
        </p:txBody>
      </p:sp>
      <p:sp>
        <p:nvSpPr>
          <p:cNvPr id="16" name="r-4"/>
          <p:cNvSpPr/>
          <p:nvPr/>
        </p:nvSpPr>
        <p:spPr>
          <a:xfrm>
            <a:off x="3246120" y="3611880"/>
            <a:ext cx="2651760" cy="4114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r-t-4"/>
          <p:cNvSpPr txBox="1"/>
          <p:nvPr/>
        </p:nvSpPr>
        <p:spPr>
          <a:xfrm>
            <a:off x="3246120" y="3611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ähnliche Bedeutung</a:t>
            </a:r>
            <a:endParaRPr lang="en-US" sz="1300" dirty="0"/>
          </a:p>
        </p:txBody>
      </p:sp>
      <p:sp>
        <p:nvSpPr>
          <p:cNvPr id="18" name="r-5"/>
          <p:cNvSpPr/>
          <p:nvPr/>
        </p:nvSpPr>
        <p:spPr>
          <a:xfrm>
            <a:off x="6035040" y="3611880"/>
            <a:ext cx="2651760" cy="4114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r-t-5"/>
          <p:cNvSpPr txBox="1"/>
          <p:nvPr/>
        </p:nvSpPr>
        <p:spPr>
          <a:xfrm>
            <a:off x="6035040" y="3611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Tausch in beide Richtungen</a:t>
            </a:r>
            <a:endParaRPr lang="en-US" sz="1300" dirty="0"/>
          </a:p>
        </p:txBody>
      </p:sp>
      <p:sp>
        <p:nvSpPr>
          <p:cNvPr id="20" name="match-note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Beide Seiten sehen dieselben Gründe. Gute Treffer bekommen eine Mitteilung. Die KI läuft in Supabase, kein Text verlässt die Plattform.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Zehn Menschen, zehn Situationen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Wofür HiveVoice gemacht ist, und warum gerade hier.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Fatma und Jonas</a:t>
            </a:r>
            <a:endParaRPr lang="en-US" sz="3000" dirty="0"/>
          </a:p>
        </p:txBody>
      </p:sp>
      <p:sp>
        <p:nvSpPr>
          <p:cNvPr id="3" name="persona-0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0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0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0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Fatma, 34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alleinerziehend</a:t>
            </a:r>
            <a:endParaRPr lang="en-US" sz="1800" dirty="0"/>
          </a:p>
        </p:txBody>
      </p:sp>
      <p:sp>
        <p:nvSpPr>
          <p:cNvPr id="7" name="pp-sit-0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Braucht abends Kinderbetreuung, kann Türkisch übersetzen.</a:t>
            </a:r>
            <a:endParaRPr lang="en-US" sz="1500" dirty="0"/>
          </a:p>
        </p:txBody>
      </p:sp>
      <p:sp>
        <p:nvSpPr>
          <p:cNvPr id="8" name="pp-sol-0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Trägt beides als Tausch ein. Eine Nachbarin, die Hilfe beim Amtsbrief braucht, bekommt den Treffer „Tausch in beide Richtungen“.</a:t>
            </a:r>
            <a:endParaRPr lang="en-US" sz="1400" dirty="0"/>
          </a:p>
        </p:txBody>
      </p:sp>
      <p:sp>
        <p:nvSpPr>
          <p:cNvPr id="9" name="persona-0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0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0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0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Jonas, 19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Azubi, neu in der Stadt</a:t>
            </a:r>
            <a:endParaRPr lang="en-US" sz="1800" dirty="0"/>
          </a:p>
        </p:txBody>
      </p:sp>
      <p:sp>
        <p:nvSpPr>
          <p:cNvPr id="13" name="pp-sit-0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Sucht WG-Zimmer und Minijob.</a:t>
            </a:r>
            <a:endParaRPr lang="en-US" sz="1500" dirty="0"/>
          </a:p>
        </p:txBody>
      </p:sp>
      <p:sp>
        <p:nvSpPr>
          <p:cNvPr id="14" name="pp-sol-0-1"/>
          <p:cNvSpPr txBox="1"/>
          <p:nvPr/>
        </p:nvSpPr>
        <p:spPr>
          <a:xfrm>
            <a:off x="4937760" y="3017520"/>
            <a:ext cx="34747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Filtert Wohnen nach Art, Zimmern, Preis und Jobs nach Anstellung, sieht alles auf der Karte, bekommt neue Treffer gemeldet.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fact-bar-0-1"/>
          <p:cNvSpPr/>
          <p:nvPr/>
        </p:nvSpPr>
        <p:spPr>
          <a:xfrm>
            <a:off x="4937760" y="3911600"/>
            <a:ext cx="38100" cy="482600"/>
          </a:xfrm>
          <a:prstGeom prst="rect">
            <a:avLst/>
          </a:prstGeom>
          <a:solidFill>
            <a:srgbClr val="E2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act-0-1"/>
          <p:cNvSpPr txBox="1"/>
          <p:nvPr/>
        </p:nvSpPr>
        <p:spPr>
          <a:xfrm>
            <a:off x="5064760" y="3911600"/>
            <a:ext cx="334772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E2001A"/>
                </a:solidFill>
              </a:rPr>
              <a:t>MÜNCHEN  </a:t>
            </a:r>
            <a:r>
              <a:rPr sz="1000">
                <a:solidFill>
                  <a:srgbClr val="555555"/>
                </a:solidFill>
              </a:rPr>
              <a:t>23,35 € pro m² Angebotsmiete, fast 9 € über dem Bundesschnitt (IfW Kiel, GREIX Q4/2025)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Erika und Thomas</a:t>
            </a:r>
            <a:endParaRPr lang="en-US" sz="3000" dirty="0"/>
          </a:p>
        </p:txBody>
      </p:sp>
      <p:sp>
        <p:nvSpPr>
          <p:cNvPr id="3" name="persona-1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1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1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1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Erika, 72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lebt allein</a:t>
            </a:r>
            <a:endParaRPr lang="en-US" sz="1800" dirty="0"/>
          </a:p>
        </p:txBody>
      </p:sp>
      <p:sp>
        <p:nvSpPr>
          <p:cNvPr id="7" name="pp-sit-1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Backt gern, hat Zeit, ist einsam.</a:t>
            </a:r>
            <a:endParaRPr lang="en-US" sz="1500" dirty="0"/>
          </a:p>
        </p:txBody>
      </p:sp>
      <p:sp>
        <p:nvSpPr>
          <p:cNvPr id="8" name="pp-sol-1-0"/>
          <p:cNvSpPr txBox="1"/>
          <p:nvPr/>
        </p:nvSpPr>
        <p:spPr>
          <a:xfrm>
            <a:off x="731520" y="3017520"/>
            <a:ext cx="34747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Bietet „Kuchen und Kennenlernen, sonntags“ an. Zwei Familien und ein Student kommen. Auch in Leichter Sprache.</a:t>
            </a:r>
            <a:endParaRPr lang="en-US" sz="1400" dirty="0"/>
          </a:p>
        </p:txBody>
      </p:sp>
      <p:sp>
        <p:nvSpPr>
          <p:cNvPr id="9" name="persona-1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1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1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1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Thomas, 45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Vereinsvorsitzender</a:t>
            </a:r>
            <a:endParaRPr lang="en-US" sz="1800" dirty="0"/>
          </a:p>
        </p:txBody>
      </p:sp>
      <p:sp>
        <p:nvSpPr>
          <p:cNvPr id="13" name="pp-sit-1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400 Mitglieder, fünf Abteilungen, zwölf Chat-Gruppen.</a:t>
            </a:r>
            <a:endParaRPr lang="en-US" sz="1500" dirty="0"/>
          </a:p>
        </p:txBody>
      </p:sp>
      <p:sp>
        <p:nvSpPr>
          <p:cNvPr id="14" name="pp-sol-1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Vorlage „Sportverein“, Abteilungen als Untergruppen, Turnierdienste als Aufgaben, geheime Abstimmung übers Vereinsheim.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fact-bar-1-0"/>
          <p:cNvSpPr/>
          <p:nvPr/>
        </p:nvSpPr>
        <p:spPr>
          <a:xfrm>
            <a:off x="731520" y="3911600"/>
            <a:ext cx="38100" cy="482600"/>
          </a:xfrm>
          <a:prstGeom prst="rect">
            <a:avLst/>
          </a:prstGeom>
          <a:solidFill>
            <a:srgbClr val="E2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act-1-0"/>
          <p:cNvSpPr txBox="1"/>
          <p:nvPr/>
        </p:nvSpPr>
        <p:spPr>
          <a:xfrm>
            <a:off x="858520" y="3911600"/>
            <a:ext cx="334772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E2001A"/>
                </a:solidFill>
              </a:rPr>
              <a:t>DEUTSCHLAND  </a:t>
            </a:r>
            <a:r>
              <a:rPr sz="1000">
                <a:solidFill>
                  <a:srgbClr val="555555"/>
                </a:solidFill>
              </a:rPr>
              <a:t>Gut jede:r Neunte fühlt sich häufig einsam, über 75-Jährige am stärksten (Einsamkeitsbarometer 2024)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Lena und Ahmed</a:t>
            </a:r>
            <a:endParaRPr lang="en-US" sz="3000" dirty="0"/>
          </a:p>
        </p:txBody>
      </p:sp>
      <p:sp>
        <p:nvSpPr>
          <p:cNvPr id="3" name="persona-2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2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2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2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Lena, 28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will einen sicheren Radweg</a:t>
            </a:r>
            <a:endParaRPr lang="en-US" sz="1800" dirty="0"/>
          </a:p>
        </p:txBody>
      </p:sp>
      <p:sp>
        <p:nvSpPr>
          <p:cNvPr id="7" name="pp-sit-2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Petitionen versanden ohne Antwort.</a:t>
            </a:r>
            <a:endParaRPr lang="en-US" sz="1500" dirty="0"/>
          </a:p>
        </p:txBody>
      </p:sp>
      <p:sp>
        <p:nvSpPr>
          <p:cNvPr id="8" name="pp-sol-2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Initiative ans Baureferat: Argumente beider Seiten, geheime Abstimmung der Anwohner:innen, Antwort binnen sechs Wochen.</a:t>
            </a:r>
            <a:endParaRPr lang="en-US" sz="1400" dirty="0"/>
          </a:p>
        </p:txBody>
      </p:sp>
      <p:sp>
        <p:nvSpPr>
          <p:cNvPr id="9" name="persona-2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2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2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2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Ahmed, 38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Bauingenieur aus Syrien</a:t>
            </a:r>
            <a:endParaRPr lang="en-US" sz="1800" dirty="0"/>
          </a:p>
        </p:txBody>
      </p:sp>
      <p:sp>
        <p:nvSpPr>
          <p:cNvPr id="13" name="pp-sit-2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Abschluss in Anerkennung, will arbeiten und helfen.</a:t>
            </a:r>
            <a:endParaRPr lang="en-US" sz="1500" dirty="0"/>
          </a:p>
        </p:txBody>
      </p:sp>
      <p:sp>
        <p:nvSpPr>
          <p:cNvPr id="14" name="pp-sol-2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Bietet Statik-Nachhilfe und Übersetzen, findet eine Mentorin für die Anerkennung – mit den Gründen, warum es passt.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Sabine und Max</a:t>
            </a:r>
            <a:endParaRPr lang="en-US" sz="3000" dirty="0"/>
          </a:p>
        </p:txBody>
      </p:sp>
      <p:sp>
        <p:nvSpPr>
          <p:cNvPr id="3" name="persona-3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3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3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3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Sabine, 51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Bezirksamt</a:t>
            </a:r>
            <a:endParaRPr lang="en-US" sz="1800" dirty="0"/>
          </a:p>
        </p:txBody>
      </p:sp>
      <p:sp>
        <p:nvSpPr>
          <p:cNvPr id="7" name="pp-sit-3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Anfragen kommen über fünf Kanäle.</a:t>
            </a:r>
            <a:endParaRPr lang="en-US" sz="1500" dirty="0"/>
          </a:p>
        </p:txBody>
      </p:sp>
      <p:sp>
        <p:nvSpPr>
          <p:cNvPr id="8" name="pp-sol-3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Ihre Stelle ist als Zuständige bestätigt. Anfragen kommen mit Frist in einen Eingang, Antworten sind öffentlich.</a:t>
            </a:r>
            <a:endParaRPr lang="en-US" sz="1400" dirty="0"/>
          </a:p>
        </p:txBody>
      </p:sp>
      <p:sp>
        <p:nvSpPr>
          <p:cNvPr id="9" name="persona-3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3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3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3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Max, 16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Schüler</a:t>
            </a:r>
            <a:endParaRPr lang="en-US" sz="1800" dirty="0"/>
          </a:p>
        </p:txBody>
      </p:sp>
      <p:sp>
        <p:nvSpPr>
          <p:cNvPr id="13" name="pp-sit-3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Klassenprojekt Schulgarten, aber geschützt.</a:t>
            </a:r>
            <a:endParaRPr lang="en-US" sz="1500" dirty="0"/>
          </a:p>
        </p:txBody>
      </p:sp>
      <p:sp>
        <p:nvSpPr>
          <p:cNvPr id="14" name="pp-sol-3-1"/>
          <p:cNvSpPr txBox="1"/>
          <p:nvPr/>
        </p:nvSpPr>
        <p:spPr>
          <a:xfrm>
            <a:off x="493776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Vorlage „Schulklasse“: geheim, nur mit Einladung. Minderjährige schreibt nur an, wer in der Gruppe 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Familie Berger und Clara</a:t>
            </a:r>
            <a:endParaRPr lang="en-US" sz="3000" dirty="0"/>
          </a:p>
        </p:txBody>
      </p:sp>
      <p:sp>
        <p:nvSpPr>
          <p:cNvPr id="3" name="persona-4-0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pp-dot-4-0"/>
          <p:cNvSpPr/>
          <p:nvPr/>
        </p:nvSpPr>
        <p:spPr>
          <a:xfrm>
            <a:off x="73152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p-icon-4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65760" cy="365760"/>
          </a:xfrm>
          <a:prstGeom prst="rect">
            <a:avLst/>
          </a:prstGeom>
        </p:spPr>
      </p:pic>
      <p:sp>
        <p:nvSpPr>
          <p:cNvPr id="6" name="pp-name-4-0"/>
          <p:cNvSpPr txBox="1"/>
          <p:nvPr/>
        </p:nvSpPr>
        <p:spPr>
          <a:xfrm>
            <a:off x="160020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Familie Berger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Wohnprojekt, 24 Parteien</a:t>
            </a:r>
            <a:endParaRPr lang="en-US" sz="1800" dirty="0"/>
          </a:p>
        </p:txBody>
      </p:sp>
      <p:sp>
        <p:nvSpPr>
          <p:cNvPr id="7" name="pp-sit-4-0"/>
          <p:cNvSpPr txBox="1"/>
          <p:nvPr/>
        </p:nvSpPr>
        <p:spPr>
          <a:xfrm>
            <a:off x="73152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Putzplan, Gemeinschaftsraum, Beschlüsse.</a:t>
            </a:r>
            <a:endParaRPr lang="en-US" sz="1500" dirty="0"/>
          </a:p>
        </p:txBody>
      </p:sp>
      <p:sp>
        <p:nvSpPr>
          <p:cNvPr id="8" name="pp-sol-4-0"/>
          <p:cNvSpPr txBox="1"/>
          <p:nvPr/>
        </p:nvSpPr>
        <p:spPr>
          <a:xfrm>
            <a:off x="731520" y="3017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Beschlüsse als Ziele mit Abstimmung, Dienste als Aufgaben, Protokoll mit Versionen, Raum nur für die Gruppe sichtbar.</a:t>
            </a:r>
            <a:endParaRPr lang="en-US" sz="1400" dirty="0"/>
          </a:p>
        </p:txBody>
      </p:sp>
      <p:sp>
        <p:nvSpPr>
          <p:cNvPr id="9" name="persona-4-1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pp-dot-4-1"/>
          <p:cNvSpPr/>
          <p:nvPr/>
        </p:nvSpPr>
        <p:spPr>
          <a:xfrm>
            <a:off x="4937760" y="1417320"/>
            <a:ext cx="685800" cy="6858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pp-icon-4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577340"/>
            <a:ext cx="365760" cy="365760"/>
          </a:xfrm>
          <a:prstGeom prst="rect">
            <a:avLst/>
          </a:prstGeom>
        </p:spPr>
      </p:pic>
      <p:sp>
        <p:nvSpPr>
          <p:cNvPr id="12" name="pp-name-4-1"/>
          <p:cNvSpPr txBox="1"/>
          <p:nvPr/>
        </p:nvSpPr>
        <p:spPr>
          <a:xfrm>
            <a:off x="5806440" y="141732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Clara, 31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Foodsharing</a:t>
            </a:r>
            <a:endParaRPr lang="en-US" sz="1800" dirty="0"/>
          </a:p>
        </p:txBody>
      </p:sp>
      <p:sp>
        <p:nvSpPr>
          <p:cNvPr id="13" name="pp-sit-4-1"/>
          <p:cNvSpPr txBox="1"/>
          <p:nvPr/>
        </p:nvSpPr>
        <p:spPr>
          <a:xfrm>
            <a:off x="4937760" y="2331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Abholer:innen fallen kurzfristig aus.</a:t>
            </a:r>
            <a:endParaRPr lang="en-US" sz="1500" dirty="0"/>
          </a:p>
        </p:txBody>
      </p:sp>
      <p:sp>
        <p:nvSpPr>
          <p:cNvPr id="14" name="pp-sol-4-1"/>
          <p:cNvSpPr txBox="1"/>
          <p:nvPr/>
        </p:nvSpPr>
        <p:spPr>
          <a:xfrm>
            <a:off x="4937760" y="3017520"/>
            <a:ext cx="34747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Abholungen als Aufgaben, Brot gratis auf der Karte, per „Weitergeben“ sofort im Nachbarschafts-Chat.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26" name="fact-bar-4-1"/>
          <p:cNvSpPr/>
          <p:nvPr/>
        </p:nvSpPr>
        <p:spPr>
          <a:xfrm>
            <a:off x="4937760" y="3911600"/>
            <a:ext cx="38100" cy="482600"/>
          </a:xfrm>
          <a:prstGeom prst="rect">
            <a:avLst/>
          </a:prstGeom>
          <a:solidFill>
            <a:srgbClr val="E2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act-4-1"/>
          <p:cNvSpPr txBox="1"/>
          <p:nvPr/>
        </p:nvSpPr>
        <p:spPr>
          <a:xfrm>
            <a:off x="5064760" y="3911600"/>
            <a:ext cx="334772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E2001A"/>
                </a:solidFill>
              </a:rPr>
              <a:t>EUROPA  </a:t>
            </a:r>
            <a:r>
              <a:rPr sz="1000">
                <a:solidFill>
                  <a:srgbClr val="555555"/>
                </a:solidFill>
              </a:rPr>
              <a:t>58 Mio. Tonnen Lebensmittelabfall im Jahr, 130 kg pro Kopf (Eurostat, 2023)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andere soziale Medien nicht leisten</a:t>
            </a:r>
            <a:endParaRPr lang="en-US" sz="3000" dirty="0"/>
          </a:p>
        </p:txBody>
      </p:sp>
      <p:graphicFrame>
        <p:nvGraphicFramePr>
          <p:cNvPr id="13" name="compar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280160"/>
                <a:gridCol w="12344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HiveVoice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Soziale Medien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Chat-Gruppen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Kleinanzeigen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</a:rPr>
                        <a:t>Petitionen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Werbung, Tracking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keine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Geschäftsmodell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Metadaten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teils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Was oben steht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was beide Seiten überzeugt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was aufregt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das Neueste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wer zahlt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was viral geht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Biete und suche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Tausch und Matching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nur gegen Geld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Entscheiden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geheim, verbindlich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Umfragen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Unterschrift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Antwort von Zuständigen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Pflicht mit Frist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nein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freiwillig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Code und Daten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offen, selbst betreibbar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geschlossen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mise-title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Was wir versprechen</a:t>
            </a:r>
            <a:endParaRPr lang="en-US" sz="3000" dirty="0"/>
          </a:p>
        </p:txBody>
      </p:sp>
      <p:sp>
        <p:nvSpPr>
          <p:cNvPr id="3" name="stat-0"/>
          <p:cNvSpPr txBox="1"/>
          <p:nvPr/>
        </p:nvSpPr>
        <p:spPr>
          <a:xfrm>
            <a:off x="5486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</a:t>
            </a:r>
            <a:endParaRPr lang="en-US" sz="5400" dirty="0"/>
          </a:p>
        </p:txBody>
      </p:sp>
      <p:sp>
        <p:nvSpPr>
          <p:cNvPr id="4" name="stat-l-0"/>
          <p:cNvSpPr txBox="1"/>
          <p:nvPr/>
        </p:nvSpPr>
        <p:spPr>
          <a:xfrm>
            <a:off x="5486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Werbung und Tracking</a:t>
            </a:r>
            <a:endParaRPr lang="en-US" sz="1600" dirty="0"/>
          </a:p>
        </p:txBody>
      </p:sp>
      <p:sp>
        <p:nvSpPr>
          <p:cNvPr id="5" name="stat-1"/>
          <p:cNvSpPr txBox="1"/>
          <p:nvPr/>
        </p:nvSpPr>
        <p:spPr>
          <a:xfrm>
            <a:off x="26060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1</a:t>
            </a:r>
            <a:endParaRPr lang="en-US" sz="5400" dirty="0"/>
          </a:p>
        </p:txBody>
      </p:sp>
      <p:sp>
        <p:nvSpPr>
          <p:cNvPr id="6" name="stat-l-1"/>
          <p:cNvSpPr txBox="1"/>
          <p:nvPr/>
        </p:nvSpPr>
        <p:spPr>
          <a:xfrm>
            <a:off x="26060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Person, ein Konto, eine Stimme</a:t>
            </a:r>
            <a:endParaRPr lang="en-US" sz="1600" dirty="0"/>
          </a:p>
        </p:txBody>
      </p:sp>
      <p:sp>
        <p:nvSpPr>
          <p:cNvPr id="7" name="stat-2"/>
          <p:cNvSpPr txBox="1"/>
          <p:nvPr/>
        </p:nvSpPr>
        <p:spPr>
          <a:xfrm>
            <a:off x="46634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6</a:t>
            </a:r>
            <a:endParaRPr lang="en-US" sz="5400" dirty="0"/>
          </a:p>
        </p:txBody>
      </p:sp>
      <p:sp>
        <p:nvSpPr>
          <p:cNvPr id="8" name="stat-l-2"/>
          <p:cNvSpPr txBox="1"/>
          <p:nvPr/>
        </p:nvSpPr>
        <p:spPr>
          <a:xfrm>
            <a:off x="46634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Wochen Antwortfrist für Zuständige</a:t>
            </a:r>
            <a:endParaRPr lang="en-US" sz="1600" dirty="0"/>
          </a:p>
        </p:txBody>
      </p:sp>
      <p:sp>
        <p:nvSpPr>
          <p:cNvPr id="9" name="stat-3"/>
          <p:cNvSpPr txBox="1"/>
          <p:nvPr/>
        </p:nvSpPr>
        <p:spPr>
          <a:xfrm>
            <a:off x="6720840" y="17373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100%</a:t>
            </a:r>
            <a:endParaRPr lang="en-US" sz="5400" dirty="0"/>
          </a:p>
        </p:txBody>
      </p:sp>
      <p:sp>
        <p:nvSpPr>
          <p:cNvPr id="10" name="stat-l-3"/>
          <p:cNvSpPr txBox="1"/>
          <p:nvPr/>
        </p:nvSpPr>
        <p:spPr>
          <a:xfrm>
            <a:off x="6720840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offener Code (AGPL)</a:t>
            </a:r>
            <a:endParaRPr lang="en-US" sz="1600" dirty="0"/>
          </a:p>
        </p:txBody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2743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Auf dem Weg zur unabhängigen, dezentralen Plattform</a:t>
            </a:r>
            <a:endParaRPr lang="en-US" sz="3000" dirty="0"/>
          </a:p>
        </p:txBody>
      </p:sp>
      <p:sp>
        <p:nvSpPr>
          <p:cNvPr id="3" name="timeline"/>
          <p:cNvSpPr/>
          <p:nvPr/>
        </p:nvSpPr>
        <p:spPr>
          <a:xfrm>
            <a:off x="731520" y="1783080"/>
            <a:ext cx="7680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4" name="step-dot-0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5" name="step-n-0"/>
          <p:cNvSpPr txBox="1"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tep-h-0"/>
          <p:cNvSpPr txBox="1"/>
          <p:nvPr/>
        </p:nvSpPr>
        <p:spPr>
          <a:xfrm>
            <a:off x="45720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Austauschbar</a:t>
            </a:r>
            <a:endParaRPr lang="en-US" sz="1400" dirty="0"/>
          </a:p>
        </p:txBody>
      </p:sp>
      <p:sp>
        <p:nvSpPr>
          <p:cNvPr id="7" name="step-t-0"/>
          <p:cNvSpPr txBox="1"/>
          <p:nvPr/>
        </p:nvSpPr>
        <p:spPr>
          <a:xfrm>
            <a:off x="45720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Speicher, Mail, KI über offene Schnittstellen</a:t>
            </a:r>
            <a:endParaRPr lang="en-US" sz="1300" dirty="0"/>
          </a:p>
        </p:txBody>
      </p:sp>
      <p:sp>
        <p:nvSpPr>
          <p:cNvPr id="8" name="step-dot-1"/>
          <p:cNvSpPr/>
          <p:nvPr/>
        </p:nvSpPr>
        <p:spPr>
          <a:xfrm>
            <a:off x="228600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9" name="step-n-1"/>
          <p:cNvSpPr txBox="1"/>
          <p:nvPr/>
        </p:nvSpPr>
        <p:spPr>
          <a:xfrm>
            <a:off x="22860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h-1"/>
          <p:cNvSpPr txBox="1"/>
          <p:nvPr/>
        </p:nvSpPr>
        <p:spPr>
          <a:xfrm>
            <a:off x="214884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Selbst betreiben</a:t>
            </a:r>
            <a:endParaRPr lang="en-US" sz="1400" dirty="0"/>
          </a:p>
        </p:txBody>
      </p:sp>
      <p:sp>
        <p:nvSpPr>
          <p:cNvPr id="11" name="step-t-1"/>
          <p:cNvSpPr txBox="1"/>
          <p:nvPr/>
        </p:nvSpPr>
        <p:spPr>
          <a:xfrm>
            <a:off x="214884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Paket für Vereine und Kommunen</a:t>
            </a:r>
            <a:endParaRPr lang="en-US" sz="1300" dirty="0"/>
          </a:p>
        </p:txBody>
      </p:sp>
      <p:sp>
        <p:nvSpPr>
          <p:cNvPr id="12" name="step-dot-2"/>
          <p:cNvSpPr/>
          <p:nvPr/>
        </p:nvSpPr>
        <p:spPr>
          <a:xfrm>
            <a:off x="397764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3" name="step-n-2"/>
          <p:cNvSpPr txBox="1"/>
          <p:nvPr/>
        </p:nvSpPr>
        <p:spPr>
          <a:xfrm>
            <a:off x="3977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h-2"/>
          <p:cNvSpPr txBox="1"/>
          <p:nvPr/>
        </p:nvSpPr>
        <p:spPr>
          <a:xfrm>
            <a:off x="384048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Eigene Identität</a:t>
            </a:r>
            <a:endParaRPr lang="en-US" sz="1400" dirty="0"/>
          </a:p>
        </p:txBody>
      </p:sp>
      <p:sp>
        <p:nvSpPr>
          <p:cNvPr id="15" name="step-t-2"/>
          <p:cNvSpPr txBox="1"/>
          <p:nvPr/>
        </p:nvSpPr>
        <p:spPr>
          <a:xfrm>
            <a:off x="384048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Online-Ausweis, eigene Anmeldung</a:t>
            </a:r>
            <a:endParaRPr lang="en-US" sz="1300" dirty="0"/>
          </a:p>
        </p:txBody>
      </p:sp>
      <p:sp>
        <p:nvSpPr>
          <p:cNvPr id="16" name="step-dot-3"/>
          <p:cNvSpPr/>
          <p:nvPr/>
        </p:nvSpPr>
        <p:spPr>
          <a:xfrm>
            <a:off x="566928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7" name="step-n-3"/>
          <p:cNvSpPr txBox="1"/>
          <p:nvPr/>
        </p:nvSpPr>
        <p:spPr>
          <a:xfrm>
            <a:off x="56692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step-h-3"/>
          <p:cNvSpPr txBox="1"/>
          <p:nvPr/>
        </p:nvSpPr>
        <p:spPr>
          <a:xfrm>
            <a:off x="553212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Föderation</a:t>
            </a:r>
            <a:endParaRPr lang="en-US" sz="1400" dirty="0"/>
          </a:p>
        </p:txBody>
      </p:sp>
      <p:sp>
        <p:nvSpPr>
          <p:cNvPr id="19" name="step-t-3"/>
          <p:cNvSpPr txBox="1"/>
          <p:nvPr/>
        </p:nvSpPr>
        <p:spPr>
          <a:xfrm>
            <a:off x="553212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Instanzen verbunden über ActivityPub</a:t>
            </a:r>
            <a:endParaRPr lang="en-US" sz="1300" dirty="0"/>
          </a:p>
        </p:txBody>
      </p:sp>
      <p:sp>
        <p:nvSpPr>
          <p:cNvPr id="20" name="step-dot-4"/>
          <p:cNvSpPr/>
          <p:nvPr/>
        </p:nvSpPr>
        <p:spPr>
          <a:xfrm>
            <a:off x="7360920" y="1554480"/>
            <a:ext cx="457200" cy="457200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21" name="step-n-4"/>
          <p:cNvSpPr txBox="1"/>
          <p:nvPr/>
        </p:nvSpPr>
        <p:spPr>
          <a:xfrm>
            <a:off x="7360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step-h-4"/>
          <p:cNvSpPr txBox="1"/>
          <p:nvPr/>
        </p:nvSpPr>
        <p:spPr>
          <a:xfrm>
            <a:off x="72237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Verschlüsselt</a:t>
            </a:r>
            <a:endParaRPr lang="en-US" sz="1400" dirty="0"/>
          </a:p>
        </p:txBody>
      </p:sp>
      <p:sp>
        <p:nvSpPr>
          <p:cNvPr id="23" name="step-t-4"/>
          <p:cNvSpPr txBox="1"/>
          <p:nvPr/>
        </p:nvSpPr>
        <p:spPr>
          <a:xfrm>
            <a:off x="7223760" y="2788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Chats Ende-zu-Ende</a:t>
            </a:r>
            <a:endParaRPr lang="en-US" sz="1300" dirty="0"/>
          </a:p>
        </p:txBody>
      </p:sp>
      <p:sp>
        <p:nvSpPr>
          <p:cNvPr id="24" name="roadmap-note-box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roadmap-note"/>
          <p:cNvSpPr txBox="1"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Heute schon: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Fachlogik in offener Datenbank, Container für den eigenen Server, Karten und Ortsdaten aus offenen Quellen.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Mach mit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Ausprobieren: hive-voice.vercel.app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Deinen Verein oder dein Viertel gründen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Eine eigene Instanz betreiben</a:t>
            </a:r>
            <a:endParaRPr lang="en-US" sz="2000" dirty="0"/>
          </a:p>
        </p:txBody>
      </p:sp>
      <p:sp>
        <p:nvSpPr>
          <p:cNvPr id="4" name="logo-0"/>
          <p:cNvSpPr/>
          <p:nvPr/>
        </p:nvSpPr>
        <p:spPr>
          <a:xfrm>
            <a:off x="7540269" y="185928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09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09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1"/>
          <p:cNvSpPr/>
          <p:nvPr/>
        </p:nvSpPr>
        <p:spPr>
          <a:xfrm>
            <a:off x="6054369" y="185928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09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09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-2"/>
          <p:cNvSpPr/>
          <p:nvPr/>
        </p:nvSpPr>
        <p:spPr>
          <a:xfrm>
            <a:off x="7168794" y="121539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ogo-3"/>
          <p:cNvSpPr/>
          <p:nvPr/>
        </p:nvSpPr>
        <p:spPr>
          <a:xfrm>
            <a:off x="6425844" y="121539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ogo-4"/>
          <p:cNvSpPr/>
          <p:nvPr/>
        </p:nvSpPr>
        <p:spPr>
          <a:xfrm>
            <a:off x="7168794" y="250317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go-5"/>
          <p:cNvSpPr/>
          <p:nvPr/>
        </p:nvSpPr>
        <p:spPr>
          <a:xfrm>
            <a:off x="6425844" y="250317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10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10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ogo-center"/>
          <p:cNvSpPr/>
          <p:nvPr/>
        </p:nvSpPr>
        <p:spPr>
          <a:xfrm>
            <a:off x="6797319" y="1859280"/>
            <a:ext cx="629361" cy="726440"/>
          </a:xfrm>
          <a:custGeom>
            <a:avLst/>
            <a:gdLst/>
            <a:ahLst/>
            <a:cxnLst/>
            <a:rect l="l" t="t" r="r" b="b"/>
            <a:pathLst>
              <a:path w="629361" h="726440">
                <a:moveTo>
                  <a:pt x="314681" y="0"/>
                </a:moveTo>
                <a:lnTo>
                  <a:pt x="629361" y="181609"/>
                </a:lnTo>
                <a:lnTo>
                  <a:pt x="629361" y="544830"/>
                </a:lnTo>
                <a:lnTo>
                  <a:pt x="314681" y="726440"/>
                </a:lnTo>
                <a:lnTo>
                  <a:pt x="0" y="544830"/>
                </a:lnTo>
                <a:lnTo>
                  <a:pt x="0" y="181609"/>
                </a:lnTo>
                <a:close/>
              </a:path>
            </a:pathLst>
          </a:custGeom>
          <a:solidFill>
            <a:srgbClr val="E2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veVoice">
  <a:themeElements>
    <a:clrScheme name="HiveVoice">
      <a:dk1>
        <a:srgbClr val="111111"/>
      </a:dk1>
      <a:lt1>
        <a:srgbClr val="FFFFFF"/>
      </a:lt1>
      <a:dk2>
        <a:srgbClr val="5F5F5F"/>
      </a:dk2>
      <a:lt2>
        <a:srgbClr val="F4F4F4"/>
      </a:lt2>
      <a:accent1>
        <a:srgbClr val="E2001A"/>
      </a:accent1>
      <a:accent2>
        <a:srgbClr val="111111"/>
      </a:accent2>
      <a:accent3>
        <a:srgbClr val="B3B3B3"/>
      </a:accent3>
      <a:accent4>
        <a:srgbClr val="E8E8E8"/>
      </a:accent4>
      <a:accent5>
        <a:srgbClr val="FDE6E8"/>
      </a:accent5>
      <a:accent6>
        <a:srgbClr val="D4D4D4"/>
      </a:accent6>
      <a:hlink>
        <a:srgbClr val="E2001A"/>
      </a:hlink>
      <a:folHlink>
        <a:srgbClr val="5F5F5F"/>
      </a:folHlink>
    </a:clrScheme>
    <a:fontScheme name="HiveVo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HiveVoice</dc:title>
  <dc:subject>PptxGenJS Presentation</dc:subject>
  <dc:creator>HiveVoice</dc:creator>
  <cp:lastModifiedBy>HiveVoice</cp:lastModifiedBy>
  <cp:revision>1</cp:revision>
  <dcterms:created xsi:type="dcterms:W3CDTF">2026-10-20T08:14:53Z</dcterms:created>
  <dcterms:modified xsi:type="dcterms:W3CDTF">2026-10-20T08:14:53Z</dcterms:modified>
</cp:coreProperties>
</file>